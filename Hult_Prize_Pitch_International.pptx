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dark_dna_bg.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2286000" y="1371600"/>
            <a:ext cx="7619695" cy="457200"/>
          </a:xfrm>
          <a:prstGeom prst="rect">
            <a:avLst/>
          </a:prstGeom>
          <a:noFill/>
        </p:spPr>
        <p:txBody>
          <a:bodyPr wrap="none">
            <a:spAutoFit/>
          </a:bodyPr>
          <a:lstStyle/>
          <a:p>
            <a:pPr algn="ctr">
              <a:defRPr sz="1600" b="1">
                <a:solidFill>
                  <a:srgbClr val="38BDF8"/>
                </a:solidFill>
              </a:defRPr>
            </a:pPr>
            <a:r>
              <a:t>HULT PRIZE 2026 INTERNATIONAL PITCH</a:t>
            </a:r>
          </a:p>
        </p:txBody>
      </p:sp>
      <p:sp>
        <p:nvSpPr>
          <p:cNvPr id="4" name="TextBox 3"/>
          <p:cNvSpPr txBox="1"/>
          <p:nvPr/>
        </p:nvSpPr>
        <p:spPr>
          <a:xfrm>
            <a:off x="914400" y="2011680"/>
            <a:ext cx="10362895" cy="2286000"/>
          </a:xfrm>
          <a:prstGeom prst="rect">
            <a:avLst/>
          </a:prstGeom>
          <a:noFill/>
        </p:spPr>
        <p:txBody>
          <a:bodyPr wrap="square">
            <a:spAutoFit/>
          </a:bodyPr>
          <a:lstStyle/>
          <a:p>
            <a:pPr algn="ctr">
              <a:defRPr sz="6500" b="1">
                <a:solidFill>
                  <a:srgbClr val="FFFFFF"/>
                </a:solidFill>
              </a:defRPr>
            </a:pPr>
            <a:r>
              <a:t>Solving the Unseen.</a:t>
            </a:r>
            <a:br/>
            <a:r>
              <a:t>Scaling the Impact.</a:t>
            </a:r>
          </a:p>
        </p:txBody>
      </p:sp>
      <p:sp>
        <p:nvSpPr>
          <p:cNvPr id="5" name="TextBox 4"/>
          <p:cNvSpPr txBox="1"/>
          <p:nvPr/>
        </p:nvSpPr>
        <p:spPr>
          <a:xfrm>
            <a:off x="1371600" y="4572000"/>
            <a:ext cx="9448495" cy="1371600"/>
          </a:xfrm>
          <a:prstGeom prst="rect">
            <a:avLst/>
          </a:prstGeom>
          <a:noFill/>
        </p:spPr>
        <p:txBody>
          <a:bodyPr wrap="square">
            <a:spAutoFit/>
          </a:bodyPr>
          <a:lstStyle/>
          <a:p>
            <a:pPr algn="ctr">
              <a:defRPr sz="2200" b="1">
                <a:solidFill>
                  <a:srgbClr val="DCDCDC"/>
                </a:solidFill>
              </a:defRPr>
            </a:pPr>
            <a:r>
              <a:t>Pioneering Dual AI Architecture for Global Healthcare (Alzheimer's) and Food Security (Banana Plagues) powered by DeepMind &amp; USC LONI.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dark_dna_bg.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14400" y="731520"/>
            <a:ext cx="10362895" cy="1371600"/>
          </a:xfrm>
          <a:prstGeom prst="rect">
            <a:avLst/>
          </a:prstGeom>
          <a:noFill/>
        </p:spPr>
        <p:txBody>
          <a:bodyPr wrap="none">
            <a:spAutoFit/>
          </a:bodyPr>
          <a:lstStyle/>
          <a:p>
            <a:pPr algn="l">
              <a:defRPr sz="4500" b="1">
                <a:solidFill>
                  <a:srgbClr val="FFFFFF"/>
                </a:solidFill>
              </a:defRPr>
            </a:pPr>
            <a:r>
              <a:t>Two Planetary Crises.</a:t>
            </a:r>
            <a:br/>
            <a:r>
              <a:t>One Root Cause: Late Detection.</a:t>
            </a:r>
          </a:p>
        </p:txBody>
      </p:sp>
      <p:sp>
        <p:nvSpPr>
          <p:cNvPr id="4" name="TextBox 3"/>
          <p:cNvSpPr txBox="1"/>
          <p:nvPr/>
        </p:nvSpPr>
        <p:spPr>
          <a:xfrm>
            <a:off x="914400" y="2743200"/>
            <a:ext cx="4754880" cy="3200400"/>
          </a:xfrm>
          <a:prstGeom prst="rect">
            <a:avLst/>
          </a:prstGeom>
          <a:noFill/>
        </p:spPr>
        <p:txBody>
          <a:bodyPr wrap="square">
            <a:spAutoFit/>
          </a:bodyPr>
          <a:lstStyle/>
          <a:p>
            <a:pPr>
              <a:defRPr sz="2600" b="1">
                <a:solidFill>
                  <a:srgbClr val="FFFFFF"/>
                </a:solidFill>
              </a:defRPr>
            </a:pPr>
            <a:r>
              <a:t>1. Healthcare: Neurological Collapse</a:t>
            </a:r>
          </a:p>
          <a:p>
            <a:br/>
            <a:pPr>
              <a:defRPr sz="1800">
                <a:solidFill>
                  <a:srgbClr val="C8C8C8"/>
                </a:solidFill>
              </a:defRPr>
            </a:pPr>
            <a:r>
              <a:t>• $1.3T Global economic cost of dementia. Structural brain damage is irreversible by the time symptoms appear.</a:t>
            </a:r>
          </a:p>
          <a:p>
            <a:br/>
            <a:pPr>
              <a:defRPr sz="1800">
                <a:solidFill>
                  <a:srgbClr val="C8C8C8"/>
                </a:solidFill>
              </a:defRPr>
            </a:pPr>
            <a:r>
              <a:t>• 20% Misdiagnosis rate in standard health systems due to fragmented human analysis of MRIs.</a:t>
            </a:r>
          </a:p>
        </p:txBody>
      </p:sp>
      <p:sp>
        <p:nvSpPr>
          <p:cNvPr id="5" name="TextBox 4"/>
          <p:cNvSpPr txBox="1"/>
          <p:nvPr/>
        </p:nvSpPr>
        <p:spPr>
          <a:xfrm>
            <a:off x="6400800" y="2743200"/>
            <a:ext cx="4754880" cy="3200400"/>
          </a:xfrm>
          <a:prstGeom prst="rect">
            <a:avLst/>
          </a:prstGeom>
          <a:noFill/>
        </p:spPr>
        <p:txBody>
          <a:bodyPr wrap="square">
            <a:spAutoFit/>
          </a:bodyPr>
          <a:lstStyle/>
          <a:p>
            <a:pPr>
              <a:defRPr sz="2600" b="1">
                <a:solidFill>
                  <a:srgbClr val="FFFFFF"/>
                </a:solidFill>
              </a:defRPr>
            </a:pPr>
            <a:r>
              <a:t>2. Food Security: Agricultural Collapse</a:t>
            </a:r>
          </a:p>
          <a:p>
            <a:br/>
            <a:pPr>
              <a:defRPr sz="1800">
                <a:solidFill>
                  <a:srgbClr val="C8C8C8"/>
                </a:solidFill>
              </a:defRPr>
            </a:pPr>
            <a:r>
              <a:t>• 400M+ People rely on bananas as their staple food. TR4 Fusarium Wilt destroys entire plantations.</a:t>
            </a:r>
          </a:p>
          <a:p>
            <a:br/>
            <a:pPr>
              <a:defRPr sz="1800">
                <a:solidFill>
                  <a:srgbClr val="C8C8C8"/>
                </a:solidFill>
              </a:defRPr>
            </a:pPr>
            <a:r>
              <a:t>• 100% Crop loss occurs because farmers lack access to laboratory-grade phytopathology tools in the field.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TextBox 1"/>
          <p:cNvSpPr txBox="1"/>
          <p:nvPr/>
        </p:nvSpPr>
        <p:spPr>
          <a:xfrm>
            <a:off x="914400" y="457200"/>
            <a:ext cx="10362895" cy="1371600"/>
          </a:xfrm>
          <a:prstGeom prst="rect">
            <a:avLst/>
          </a:prstGeom>
          <a:noFill/>
        </p:spPr>
        <p:txBody>
          <a:bodyPr wrap="none">
            <a:spAutoFit/>
          </a:bodyPr>
          <a:lstStyle/>
          <a:p>
            <a:pPr algn="ctr">
              <a:defRPr sz="1800" b="1">
                <a:solidFill>
                  <a:srgbClr val="A855F7"/>
                </a:solidFill>
              </a:defRPr>
            </a:pPr>
            <a:r>
              <a:t>The Unified AI Brain</a:t>
            </a:r>
          </a:p>
        </p:txBody>
      </p:sp>
      <p:sp>
        <p:nvSpPr>
          <p:cNvPr id="3" name="TextBox 2"/>
          <p:cNvSpPr txBox="1"/>
          <p:nvPr/>
        </p:nvSpPr>
        <p:spPr>
          <a:xfrm>
            <a:off x="914400" y="914400"/>
            <a:ext cx="10362895" cy="1371600"/>
          </a:xfrm>
          <a:prstGeom prst="rect">
            <a:avLst/>
          </a:prstGeom>
          <a:noFill/>
        </p:spPr>
        <p:txBody>
          <a:bodyPr wrap="none">
            <a:spAutoFit/>
          </a:bodyPr>
          <a:lstStyle/>
          <a:p>
            <a:pPr algn="ctr">
              <a:defRPr sz="5500" b="1">
                <a:solidFill>
                  <a:srgbClr val="FFFFFF"/>
                </a:solidFill>
              </a:defRPr>
            </a:pPr>
            <a:r>
              <a:t>Perdix Origin Platform</a:t>
            </a:r>
          </a:p>
        </p:txBody>
      </p:sp>
      <p:sp>
        <p:nvSpPr>
          <p:cNvPr id="4" name="TextBox 3"/>
          <p:cNvSpPr txBox="1"/>
          <p:nvPr/>
        </p:nvSpPr>
        <p:spPr>
          <a:xfrm>
            <a:off x="1828800" y="2286000"/>
            <a:ext cx="8534095" cy="1371600"/>
          </a:xfrm>
          <a:prstGeom prst="rect">
            <a:avLst/>
          </a:prstGeom>
          <a:noFill/>
        </p:spPr>
        <p:txBody>
          <a:bodyPr wrap="square">
            <a:spAutoFit/>
          </a:bodyPr>
          <a:lstStyle/>
          <a:p>
            <a:pPr algn="ctr">
              <a:defRPr sz="2000">
                <a:solidFill>
                  <a:srgbClr val="C8C8C8"/>
                </a:solidFill>
              </a:defRPr>
            </a:pPr>
            <a:r>
              <a:t>Different problems, identical underlying mathematical challenge: Pattern Recognition at early stages. Our platform orchestrates two specialized engines.</a:t>
            </a:r>
          </a:p>
        </p:txBody>
      </p:sp>
      <p:sp>
        <p:nvSpPr>
          <p:cNvPr id="5" name="TextBox 4"/>
          <p:cNvSpPr txBox="1"/>
          <p:nvPr/>
        </p:nvSpPr>
        <p:spPr>
          <a:xfrm>
            <a:off x="1371600" y="4114800"/>
            <a:ext cx="3657600" cy="1828800"/>
          </a:xfrm>
          <a:prstGeom prst="rect">
            <a:avLst/>
          </a:prstGeom>
          <a:noFill/>
        </p:spPr>
        <p:txBody>
          <a:bodyPr wrap="square">
            <a:spAutoFit/>
          </a:bodyPr>
          <a:lstStyle/>
          <a:p>
            <a:pPr algn="ctr">
              <a:defRPr b="1" sz="2800">
                <a:solidFill>
                  <a:srgbClr val="FFFFFF"/>
                </a:solidFill>
              </a:defRPr>
            </a:pPr>
            <a:r>
              <a:t>🧠 Cloud AI</a:t>
            </a:r>
          </a:p>
          <a:p>
            <a:pPr algn="ctr">
              <a:defRPr sz="1600">
                <a:solidFill>
                  <a:srgbClr val="B4B4B4"/>
                </a:solidFill>
              </a:defRPr>
            </a:pPr>
            <a:r>
              <a:t>Deep Tensor Extraction &amp; Healthcare Multi-modal Fusion</a:t>
            </a:r>
          </a:p>
        </p:txBody>
      </p:sp>
      <p:sp>
        <p:nvSpPr>
          <p:cNvPr id="6" name="TextBox 5"/>
          <p:cNvSpPr txBox="1"/>
          <p:nvPr/>
        </p:nvSpPr>
        <p:spPr>
          <a:xfrm>
            <a:off x="5029200" y="4114800"/>
            <a:ext cx="2133295" cy="914400"/>
          </a:xfrm>
          <a:prstGeom prst="rect">
            <a:avLst/>
          </a:prstGeom>
          <a:noFill/>
        </p:spPr>
        <p:txBody>
          <a:bodyPr wrap="none">
            <a:spAutoFit/>
          </a:bodyPr>
          <a:lstStyle/>
          <a:p>
            <a:pPr algn="ctr">
              <a:defRPr sz="4000">
                <a:solidFill>
                  <a:srgbClr val="A855F7"/>
                </a:solidFill>
              </a:defRPr>
            </a:pPr>
            <a:r>
              <a:t>&lt;===&gt;</a:t>
            </a:r>
          </a:p>
        </p:txBody>
      </p:sp>
      <p:sp>
        <p:nvSpPr>
          <p:cNvPr id="7" name="TextBox 6"/>
          <p:cNvSpPr txBox="1"/>
          <p:nvPr/>
        </p:nvSpPr>
        <p:spPr>
          <a:xfrm>
            <a:off x="7132320" y="4114800"/>
            <a:ext cx="3657600" cy="1828800"/>
          </a:xfrm>
          <a:prstGeom prst="rect">
            <a:avLst/>
          </a:prstGeom>
          <a:noFill/>
        </p:spPr>
        <p:txBody>
          <a:bodyPr wrap="square">
            <a:spAutoFit/>
          </a:bodyPr>
          <a:lstStyle/>
          <a:p>
            <a:pPr algn="ctr">
              <a:defRPr b="1" sz="2800">
                <a:solidFill>
                  <a:srgbClr val="FFFFFF"/>
                </a:solidFill>
              </a:defRPr>
            </a:pPr>
            <a:r>
              <a:t>📱 Edge AI</a:t>
            </a:r>
          </a:p>
          <a:p>
            <a:pPr algn="ctr">
              <a:defRPr sz="1600">
                <a:solidFill>
                  <a:srgbClr val="B4B4B4"/>
                </a:solidFill>
              </a:defRPr>
            </a:pPr>
            <a:r>
              <a:t>Agrotech Computer Vision engineered for Mobile Offline Inferencing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dark_brain_bg.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14400" y="457200"/>
            <a:ext cx="10362895" cy="1371600"/>
          </a:xfrm>
          <a:prstGeom prst="rect">
            <a:avLst/>
          </a:prstGeom>
          <a:noFill/>
        </p:spPr>
        <p:txBody>
          <a:bodyPr wrap="none">
            <a:spAutoFit/>
          </a:bodyPr>
          <a:lstStyle/>
          <a:p>
            <a:pPr algn="l">
              <a:defRPr sz="1800" b="1">
                <a:solidFill>
                  <a:srgbClr val="3B82F6"/>
                </a:solidFill>
              </a:defRPr>
            </a:pPr>
            <a:r>
              <a:t>Global Data Foundation</a:t>
            </a:r>
          </a:p>
        </p:txBody>
      </p:sp>
      <p:sp>
        <p:nvSpPr>
          <p:cNvPr id="4" name="TextBox 3"/>
          <p:cNvSpPr txBox="1"/>
          <p:nvPr/>
        </p:nvSpPr>
        <p:spPr>
          <a:xfrm>
            <a:off x="914400" y="914400"/>
            <a:ext cx="10362895" cy="1371600"/>
          </a:xfrm>
          <a:prstGeom prst="rect">
            <a:avLst/>
          </a:prstGeom>
          <a:noFill/>
        </p:spPr>
        <p:txBody>
          <a:bodyPr wrap="none">
            <a:spAutoFit/>
          </a:bodyPr>
          <a:lstStyle/>
          <a:p>
            <a:pPr algn="l">
              <a:defRPr sz="4500" b="1">
                <a:solidFill>
                  <a:srgbClr val="FFFFFF"/>
                </a:solidFill>
              </a:defRPr>
            </a:pPr>
            <a:r>
              <a:t>USC LONI &amp; The IDEAS Project</a:t>
            </a:r>
          </a:p>
        </p:txBody>
      </p:sp>
      <p:sp>
        <p:nvSpPr>
          <p:cNvPr id="5" name="TextBox 4"/>
          <p:cNvSpPr txBox="1"/>
          <p:nvPr/>
        </p:nvSpPr>
        <p:spPr>
          <a:xfrm>
            <a:off x="914400" y="1828800"/>
            <a:ext cx="5943600" cy="4114800"/>
          </a:xfrm>
          <a:prstGeom prst="rect">
            <a:avLst/>
          </a:prstGeom>
          <a:noFill/>
        </p:spPr>
        <p:txBody>
          <a:bodyPr wrap="square">
            <a:spAutoFit/>
          </a:bodyPr>
          <a:lstStyle/>
          <a:p>
            <a:pPr>
              <a:defRPr sz="1800">
                <a:solidFill>
                  <a:srgbClr val="E6E6E6"/>
                </a:solidFill>
              </a:defRPr>
            </a:pPr>
            <a:r>
              <a:t>Our AI models aren't trained on synthetic or standard data. We leverage the Image Data Archive (IDA) from the Laboratory of Neuro Imaging (LONI) at the University of Southern California (USC).</a:t>
            </a:r>
            <a:br/>
          </a:p>
          <a:p>
            <a:pPr>
              <a:defRPr b="1" sz="2000">
                <a:solidFill>
                  <a:srgbClr val="FFFFFF"/>
                </a:solidFill>
              </a:defRPr>
            </a:pPr>
            <a:r>
              <a:t>■ The IDEAS Study Validation</a:t>
            </a:r>
          </a:p>
          <a:p>
            <a:pPr>
              <a:defRPr sz="1600">
                <a:solidFill>
                  <a:srgbClr val="C8C8C8"/>
                </a:solidFill>
              </a:defRPr>
            </a:pPr>
            <a:r>
              <a:t>We base our architecture on findings correlated with the IDEAS (Imaging Dementia—Evidence for Amyloid Scanning) project, enhancing PET scan analytical correlations with NIfTI MRI.</a:t>
            </a:r>
            <a:br/>
          </a:p>
          <a:p>
            <a:pPr>
              <a:defRPr b="1" sz="2000">
                <a:solidFill>
                  <a:srgbClr val="FFFFFF"/>
                </a:solidFill>
              </a:defRPr>
            </a:pPr>
            <a:r>
              <a:t>■ ADNI Standardization</a:t>
            </a:r>
          </a:p>
          <a:p>
            <a:pPr>
              <a:defRPr sz="1600">
                <a:solidFill>
                  <a:srgbClr val="C8C8C8"/>
                </a:solidFill>
              </a:defRPr>
            </a:pPr>
            <a:r>
              <a:t>Strict adherence to Alzheimer's Disease Neuroimaging Initiative standardizations, parsing thousands of multi-country subjects ensuring zero bias clinical reliability.</a:t>
            </a:r>
          </a:p>
        </p:txBody>
      </p:sp>
      <p:sp>
        <p:nvSpPr>
          <p:cNvPr id="6" name="TextBox 5"/>
          <p:cNvSpPr txBox="1"/>
          <p:nvPr/>
        </p:nvSpPr>
        <p:spPr>
          <a:xfrm>
            <a:off x="7315200" y="3657600"/>
            <a:ext cx="3657600" cy="1828800"/>
          </a:xfrm>
          <a:prstGeom prst="rect">
            <a:avLst/>
          </a:prstGeom>
          <a:noFill/>
        </p:spPr>
        <p:txBody>
          <a:bodyPr wrap="none">
            <a:spAutoFit/>
          </a:bodyPr>
          <a:lstStyle/>
          <a:p>
            <a:pPr algn="ctr">
              <a:defRPr b="1" sz="5000">
                <a:solidFill>
                  <a:srgbClr val="FFFFFF"/>
                </a:solidFill>
              </a:defRPr>
            </a:pPr>
            <a:r>
              <a:t>145,000+</a:t>
            </a:r>
          </a:p>
          <a:p>
            <a:pPr algn="ctr">
              <a:defRPr sz="1400">
                <a:solidFill>
                  <a:srgbClr val="C8C8C8"/>
                </a:solidFill>
              </a:defRPr>
            </a:pPr>
            <a:r>
              <a:t>SIGNATURES ANALYZED BY IDA GLOBALLY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dark_brain_bg.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14400" y="457200"/>
            <a:ext cx="10362895" cy="1371600"/>
          </a:xfrm>
          <a:prstGeom prst="rect">
            <a:avLst/>
          </a:prstGeom>
          <a:noFill/>
        </p:spPr>
        <p:txBody>
          <a:bodyPr wrap="none">
            <a:spAutoFit/>
          </a:bodyPr>
          <a:lstStyle/>
          <a:p>
            <a:pPr algn="l">
              <a:defRPr sz="1800" b="1">
                <a:solidFill>
                  <a:srgbClr val="38BDF8"/>
                </a:solidFill>
              </a:defRPr>
            </a:pPr>
            <a:r>
              <a:t>Technological Moat 1</a:t>
            </a:r>
          </a:p>
        </p:txBody>
      </p:sp>
      <p:sp>
        <p:nvSpPr>
          <p:cNvPr id="4" name="TextBox 3"/>
          <p:cNvSpPr txBox="1"/>
          <p:nvPr/>
        </p:nvSpPr>
        <p:spPr>
          <a:xfrm>
            <a:off x="914400" y="914400"/>
            <a:ext cx="10362895" cy="1371600"/>
          </a:xfrm>
          <a:prstGeom prst="rect">
            <a:avLst/>
          </a:prstGeom>
          <a:noFill/>
        </p:spPr>
        <p:txBody>
          <a:bodyPr wrap="none">
            <a:spAutoFit/>
          </a:bodyPr>
          <a:lstStyle/>
          <a:p>
            <a:pPr algn="l">
              <a:defRPr sz="4000" b="1">
                <a:solidFill>
                  <a:srgbClr val="FFFFFF"/>
                </a:solidFill>
              </a:defRPr>
            </a:pPr>
            <a:r>
              <a:t>Healthcare: MedGemma &amp; Late-Fusion</a:t>
            </a:r>
          </a:p>
        </p:txBody>
      </p:sp>
      <p:sp>
        <p:nvSpPr>
          <p:cNvPr id="5" name="TextBox 4"/>
          <p:cNvSpPr txBox="1"/>
          <p:nvPr/>
        </p:nvSpPr>
        <p:spPr>
          <a:xfrm>
            <a:off x="914400" y="1828800"/>
            <a:ext cx="4114800" cy="4114800"/>
          </a:xfrm>
          <a:prstGeom prst="rect">
            <a:avLst/>
          </a:prstGeom>
          <a:noFill/>
        </p:spPr>
        <p:txBody>
          <a:bodyPr wrap="square">
            <a:spAutoFit/>
          </a:bodyPr>
          <a:lstStyle/>
          <a:p>
            <a:pPr>
              <a:defRPr b="1" sz="1400">
                <a:solidFill>
                  <a:srgbClr val="38BDF8"/>
                </a:solidFill>
              </a:defRPr>
            </a:pPr>
            <a:r>
              <a:t>Google DeepMind Integration</a:t>
            </a:r>
          </a:p>
          <a:p>
            <a:pPr>
              <a:defRPr b="1" sz="2200">
                <a:solidFill>
                  <a:srgbClr val="FFFFFF"/>
                </a:solidFill>
              </a:defRPr>
            </a:pPr>
            <a:r>
              <a:t>MedGemma-4B-IT Ecosystem</a:t>
            </a:r>
          </a:p>
          <a:p>
            <a:pPr>
              <a:defRPr sz="1600">
                <a:solidFill>
                  <a:srgbClr val="C8C8C8"/>
                </a:solidFill>
              </a:defRPr>
            </a:pPr>
            <a:r>
              <a:t>We process dense clinical data and EHR using Google's pioneering medical LLM, bridging the gap between raw data and digestible medical insights.</a:t>
            </a:r>
            <a:br/>
          </a:p>
          <a:p>
            <a:pPr>
              <a:defRPr b="1" sz="1400">
                <a:solidFill>
                  <a:srgbClr val="A855F7"/>
                </a:solidFill>
              </a:defRPr>
            </a:pPr>
            <a:r>
              <a:t>Proprietary Architecture</a:t>
            </a:r>
          </a:p>
          <a:p>
            <a:pPr>
              <a:defRPr b="1" sz="2200">
                <a:solidFill>
                  <a:srgbClr val="FFFFFF"/>
                </a:solidFill>
              </a:defRPr>
            </a:pPr>
            <a:r>
              <a:t>Late-Fusion Multivariate AI</a:t>
            </a:r>
          </a:p>
          <a:p>
            <a:pPr>
              <a:defRPr sz="1600">
                <a:solidFill>
                  <a:srgbClr val="C8C8C8"/>
                </a:solidFill>
              </a:defRPr>
            </a:pPr>
            <a:r>
              <a:t>Our clinical AI organically fuses 128 deep Keras parameters perfectly intertwined with Patient Age, MMSE, and clinical history through an XGBoost logic tree.</a:t>
            </a:r>
          </a:p>
        </p:txBody>
      </p:sp>
      <p:pic>
        <p:nvPicPr>
          <p:cNvPr id="6" name="Picture 5" descr="cm_real.png"/>
          <p:cNvPicPr>
            <a:picLocks noChangeAspect="1"/>
          </p:cNvPicPr>
          <p:nvPr/>
        </p:nvPicPr>
        <p:blipFill>
          <a:blip r:embed="rId3"/>
          <a:stretch>
            <a:fillRect/>
          </a:stretch>
        </p:blipFill>
        <p:spPr>
          <a:xfrm>
            <a:off x="5303520" y="2011680"/>
            <a:ext cx="3200400" cy="2818034"/>
          </a:xfrm>
          <a:prstGeom prst="rect">
            <a:avLst/>
          </a:prstGeom>
        </p:spPr>
      </p:pic>
      <p:pic>
        <p:nvPicPr>
          <p:cNvPr id="7" name="Picture 6" descr="roc_real.png"/>
          <p:cNvPicPr>
            <a:picLocks noChangeAspect="1"/>
          </p:cNvPicPr>
          <p:nvPr/>
        </p:nvPicPr>
        <p:blipFill>
          <a:blip r:embed="rId4"/>
          <a:stretch>
            <a:fillRect/>
          </a:stretch>
        </p:blipFill>
        <p:spPr>
          <a:xfrm>
            <a:off x="8686800" y="2011680"/>
            <a:ext cx="3200400" cy="266519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dark_leaf_bg.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14400" y="731520"/>
            <a:ext cx="10362895" cy="1371600"/>
          </a:xfrm>
          <a:prstGeom prst="rect">
            <a:avLst/>
          </a:prstGeom>
          <a:noFill/>
        </p:spPr>
        <p:txBody>
          <a:bodyPr wrap="none">
            <a:spAutoFit/>
          </a:bodyPr>
          <a:lstStyle/>
          <a:p>
            <a:pPr algn="ctr">
              <a:defRPr sz="1800" b="1">
                <a:solidFill>
                  <a:srgbClr val="4ADE80"/>
                </a:solidFill>
              </a:defRPr>
            </a:pPr>
            <a:r>
              <a:t>Technological Moat 2</a:t>
            </a:r>
          </a:p>
        </p:txBody>
      </p:sp>
      <p:sp>
        <p:nvSpPr>
          <p:cNvPr id="4" name="TextBox 3"/>
          <p:cNvSpPr txBox="1"/>
          <p:nvPr/>
        </p:nvSpPr>
        <p:spPr>
          <a:xfrm>
            <a:off x="914400" y="1188720"/>
            <a:ext cx="10362895" cy="1371600"/>
          </a:xfrm>
          <a:prstGeom prst="rect">
            <a:avLst/>
          </a:prstGeom>
          <a:noFill/>
        </p:spPr>
        <p:txBody>
          <a:bodyPr wrap="none">
            <a:spAutoFit/>
          </a:bodyPr>
          <a:lstStyle/>
          <a:p>
            <a:pPr algn="ctr">
              <a:defRPr sz="5500" b="1">
                <a:solidFill>
                  <a:srgbClr val="FFFFFF"/>
                </a:solidFill>
              </a:defRPr>
            </a:pPr>
            <a:r>
              <a:t>Banana Disease Edge AI</a:t>
            </a:r>
          </a:p>
        </p:txBody>
      </p:sp>
      <p:sp>
        <p:nvSpPr>
          <p:cNvPr id="5" name="TextBox 4"/>
          <p:cNvSpPr txBox="1"/>
          <p:nvPr/>
        </p:nvSpPr>
        <p:spPr>
          <a:xfrm>
            <a:off x="914400" y="2743200"/>
            <a:ext cx="10362895" cy="1371600"/>
          </a:xfrm>
          <a:prstGeom prst="rect">
            <a:avLst/>
          </a:prstGeom>
          <a:noFill/>
        </p:spPr>
        <p:txBody>
          <a:bodyPr wrap="square">
            <a:spAutoFit/>
          </a:bodyPr>
          <a:lstStyle/>
          <a:p>
            <a:pPr algn="ctr">
              <a:defRPr b="1" sz="2400">
                <a:solidFill>
                  <a:srgbClr val="4ADE80"/>
                </a:solidFill>
              </a:defRPr>
            </a:pPr>
            <a:r>
              <a:t>99% TARGET ACCURACY      |      EDGE OFFLINE EXECUTION      |      &lt; 1s INFERENCE TIME</a:t>
            </a:r>
          </a:p>
        </p:txBody>
      </p:sp>
      <p:sp>
        <p:nvSpPr>
          <p:cNvPr id="6" name="TextBox 5"/>
          <p:cNvSpPr txBox="1"/>
          <p:nvPr/>
        </p:nvSpPr>
        <p:spPr>
          <a:xfrm>
            <a:off x="1828800" y="4114800"/>
            <a:ext cx="8534095" cy="1371600"/>
          </a:xfrm>
          <a:prstGeom prst="rect">
            <a:avLst/>
          </a:prstGeom>
          <a:noFill/>
        </p:spPr>
        <p:txBody>
          <a:bodyPr wrap="square">
            <a:spAutoFit/>
          </a:bodyPr>
          <a:lstStyle/>
          <a:p>
            <a:pPr algn="ctr">
              <a:defRPr b="1" sz="2000">
                <a:solidFill>
                  <a:srgbClr val="E6E6E6"/>
                </a:solidFill>
              </a:defRPr>
            </a:pPr>
            <a:r>
              <a:t>Built specifically for remote LATAM/African rural regions without internet. We utilize heavily quantized Convolutional Neural Networks on mobile devices to detect microscopic symptomatic patterns on banana leaves, halting TR4 outbreaks instantly.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dark_dna_bg.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14400" y="457200"/>
            <a:ext cx="10362895" cy="1371600"/>
          </a:xfrm>
          <a:prstGeom prst="rect">
            <a:avLst/>
          </a:prstGeom>
          <a:noFill/>
        </p:spPr>
        <p:txBody>
          <a:bodyPr wrap="none">
            <a:spAutoFit/>
          </a:bodyPr>
          <a:lstStyle/>
          <a:p>
            <a:pPr algn="ctr">
              <a:defRPr sz="1800" b="1">
                <a:solidFill>
                  <a:srgbClr val="FACC15"/>
                </a:solidFill>
              </a:defRPr>
            </a:pPr>
            <a:r>
              <a:t>Global Scale</a:t>
            </a:r>
          </a:p>
        </p:txBody>
      </p:sp>
      <p:sp>
        <p:nvSpPr>
          <p:cNvPr id="4" name="TextBox 3"/>
          <p:cNvSpPr txBox="1"/>
          <p:nvPr/>
        </p:nvSpPr>
        <p:spPr>
          <a:xfrm>
            <a:off x="914400" y="914400"/>
            <a:ext cx="10362895" cy="1371600"/>
          </a:xfrm>
          <a:prstGeom prst="rect">
            <a:avLst/>
          </a:prstGeom>
          <a:noFill/>
        </p:spPr>
        <p:txBody>
          <a:bodyPr wrap="none">
            <a:spAutoFit/>
          </a:bodyPr>
          <a:lstStyle/>
          <a:p>
            <a:pPr algn="ctr">
              <a:defRPr sz="5500" b="1">
                <a:solidFill>
                  <a:srgbClr val="FFFFFF"/>
                </a:solidFill>
              </a:defRPr>
            </a:pPr>
            <a:r>
              <a:t>The Market Opportunity</a:t>
            </a:r>
          </a:p>
        </p:txBody>
      </p:sp>
      <p:sp>
        <p:nvSpPr>
          <p:cNvPr id="5" name="TextBox 4"/>
          <p:cNvSpPr txBox="1"/>
          <p:nvPr/>
        </p:nvSpPr>
        <p:spPr>
          <a:xfrm>
            <a:off x="914400" y="3200400"/>
            <a:ext cx="3200400" cy="1828800"/>
          </a:xfrm>
          <a:prstGeom prst="rect">
            <a:avLst/>
          </a:prstGeom>
          <a:noFill/>
        </p:spPr>
        <p:txBody>
          <a:bodyPr wrap="none">
            <a:spAutoFit/>
          </a:bodyPr>
          <a:lstStyle/>
          <a:p>
            <a:pPr algn="ctr">
              <a:defRPr sz="5500" b="1">
                <a:solidFill>
                  <a:srgbClr val="FFFFFF"/>
                </a:solidFill>
              </a:defRPr>
            </a:pPr>
            <a:r>
              <a:t>$180B+</a:t>
            </a:r>
          </a:p>
          <a:p>
            <a:pPr algn="ctr">
              <a:defRPr sz="1600">
                <a:solidFill>
                  <a:srgbClr val="C8C8C8"/>
                </a:solidFill>
              </a:defRPr>
            </a:pPr>
            <a:r>
              <a:t>TAM</a:t>
            </a:r>
            <a:br/>
            <a:r>
              <a:t>Combined AI Health &amp; Agro Market</a:t>
            </a:r>
          </a:p>
        </p:txBody>
      </p:sp>
      <p:sp>
        <p:nvSpPr>
          <p:cNvPr id="6" name="TextBox 5"/>
          <p:cNvSpPr txBox="1"/>
          <p:nvPr/>
        </p:nvSpPr>
        <p:spPr>
          <a:xfrm>
            <a:off x="4480560" y="3200400"/>
            <a:ext cx="3200400" cy="1828800"/>
          </a:xfrm>
          <a:prstGeom prst="rect">
            <a:avLst/>
          </a:prstGeom>
          <a:noFill/>
        </p:spPr>
        <p:txBody>
          <a:bodyPr wrap="none">
            <a:spAutoFit/>
          </a:bodyPr>
          <a:lstStyle/>
          <a:p>
            <a:pPr algn="ctr">
              <a:defRPr sz="5500" b="1">
                <a:solidFill>
                  <a:srgbClr val="CA8A04"/>
                </a:solidFill>
              </a:defRPr>
            </a:pPr>
            <a:r>
              <a:t>$15B</a:t>
            </a:r>
          </a:p>
          <a:p>
            <a:pPr algn="ctr">
              <a:defRPr sz="1600">
                <a:solidFill>
                  <a:srgbClr val="C8C8C8"/>
                </a:solidFill>
              </a:defRPr>
            </a:pPr>
            <a:r>
              <a:t>SAM</a:t>
            </a:r>
            <a:br/>
            <a:r>
              <a:t>LATAM &amp; Developing Nations Needs</a:t>
            </a:r>
          </a:p>
        </p:txBody>
      </p:sp>
      <p:sp>
        <p:nvSpPr>
          <p:cNvPr id="7" name="TextBox 6"/>
          <p:cNvSpPr txBox="1"/>
          <p:nvPr/>
        </p:nvSpPr>
        <p:spPr>
          <a:xfrm>
            <a:off x="8046720" y="3200400"/>
            <a:ext cx="3200400" cy="1828800"/>
          </a:xfrm>
          <a:prstGeom prst="rect">
            <a:avLst/>
          </a:prstGeom>
          <a:noFill/>
        </p:spPr>
        <p:txBody>
          <a:bodyPr wrap="none">
            <a:spAutoFit/>
          </a:bodyPr>
          <a:lstStyle/>
          <a:p>
            <a:pPr algn="ctr">
              <a:defRPr sz="5500" b="1">
                <a:solidFill>
                  <a:srgbClr val="FACC15"/>
                </a:solidFill>
              </a:defRPr>
            </a:pPr>
            <a:r>
              <a:t>$150M</a:t>
            </a:r>
          </a:p>
          <a:p>
            <a:pPr algn="ctr">
              <a:defRPr sz="1600">
                <a:solidFill>
                  <a:srgbClr val="C8C8C8"/>
                </a:solidFill>
              </a:defRPr>
            </a:pPr>
            <a:r>
              <a:t>SOM (Year 3)</a:t>
            </a:r>
            <a:br/>
            <a:r>
              <a:t>Penetration in Key Farming &amp; Clinic Hubs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dark_dna_bg.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14400" y="457200"/>
            <a:ext cx="10362895" cy="1371600"/>
          </a:xfrm>
          <a:prstGeom prst="rect">
            <a:avLst/>
          </a:prstGeom>
          <a:noFill/>
        </p:spPr>
        <p:txBody>
          <a:bodyPr wrap="none">
            <a:spAutoFit/>
          </a:bodyPr>
          <a:lstStyle/>
          <a:p>
            <a:pPr algn="l">
              <a:defRPr sz="1800" b="1">
                <a:solidFill>
                  <a:srgbClr val="4ADE80"/>
                </a:solidFill>
              </a:defRPr>
            </a:pPr>
            <a:r>
              <a:t>Financial Sustainability</a:t>
            </a:r>
          </a:p>
        </p:txBody>
      </p:sp>
      <p:sp>
        <p:nvSpPr>
          <p:cNvPr id="4" name="TextBox 3"/>
          <p:cNvSpPr txBox="1"/>
          <p:nvPr/>
        </p:nvSpPr>
        <p:spPr>
          <a:xfrm>
            <a:off x="914400" y="914400"/>
            <a:ext cx="10362895" cy="1371600"/>
          </a:xfrm>
          <a:prstGeom prst="rect">
            <a:avLst/>
          </a:prstGeom>
          <a:noFill/>
        </p:spPr>
        <p:txBody>
          <a:bodyPr wrap="none">
            <a:spAutoFit/>
          </a:bodyPr>
          <a:lstStyle/>
          <a:p>
            <a:pPr algn="l">
              <a:defRPr sz="4500" b="1">
                <a:solidFill>
                  <a:srgbClr val="FFFFFF"/>
                </a:solidFill>
              </a:defRPr>
            </a:pPr>
            <a:r>
              <a:t>B2B &amp; B2G Revenue Models</a:t>
            </a:r>
          </a:p>
        </p:txBody>
      </p:sp>
      <p:sp>
        <p:nvSpPr>
          <p:cNvPr id="5" name="TextBox 4"/>
          <p:cNvSpPr txBox="1"/>
          <p:nvPr/>
        </p:nvSpPr>
        <p:spPr>
          <a:xfrm>
            <a:off x="914400" y="2286000"/>
            <a:ext cx="4754880" cy="3657600"/>
          </a:xfrm>
          <a:prstGeom prst="rect">
            <a:avLst/>
          </a:prstGeom>
          <a:noFill/>
        </p:spPr>
        <p:txBody>
          <a:bodyPr wrap="square">
            <a:spAutoFit/>
          </a:bodyPr>
          <a:lstStyle/>
          <a:p>
            <a:pPr>
              <a:defRPr sz="2400" b="1">
                <a:solidFill>
                  <a:srgbClr val="FFFFFF"/>
                </a:solidFill>
              </a:defRPr>
            </a:pPr>
            <a:r>
              <a:t>🏥 Healthcare SaaS</a:t>
            </a:r>
            <a:br/>
            <a:r>
              <a:t>B2B Licensing / Pay-per-Inference</a:t>
            </a:r>
          </a:p>
          <a:p>
            <a:br/>
            <a:pPr>
              <a:defRPr sz="1800">
                <a:solidFill>
                  <a:srgbClr val="C8C8C8"/>
                </a:solidFill>
              </a:defRPr>
            </a:pPr>
            <a:r>
              <a:t>Clinics pay a monthly license or API-call fee to access our ADNI-Standard orchestrator, circumventing the need for million-dollar proprietary software setups locally.</a:t>
            </a:r>
          </a:p>
        </p:txBody>
      </p:sp>
      <p:sp>
        <p:nvSpPr>
          <p:cNvPr id="6" name="TextBox 5"/>
          <p:cNvSpPr txBox="1"/>
          <p:nvPr/>
        </p:nvSpPr>
        <p:spPr>
          <a:xfrm>
            <a:off x="6400800" y="2286000"/>
            <a:ext cx="4754880" cy="3657600"/>
          </a:xfrm>
          <a:prstGeom prst="rect">
            <a:avLst/>
          </a:prstGeom>
          <a:noFill/>
        </p:spPr>
        <p:txBody>
          <a:bodyPr wrap="square">
            <a:spAutoFit/>
          </a:bodyPr>
          <a:lstStyle/>
          <a:p>
            <a:pPr>
              <a:defRPr sz="2400" b="1">
                <a:solidFill>
                  <a:srgbClr val="FFFFFF"/>
                </a:solidFill>
              </a:defRPr>
            </a:pPr>
            <a:r>
              <a:t>🌾 Agriculture Tech</a:t>
            </a:r>
            <a:br/>
            <a:r>
              <a:t>B2G &amp; Conglomerate Contracts</a:t>
            </a:r>
          </a:p>
          <a:p>
            <a:br/>
            <a:pPr>
              <a:defRPr sz="1800">
                <a:solidFill>
                  <a:srgbClr val="C8C8C8"/>
                </a:solidFill>
              </a:defRPr>
            </a:pPr>
            <a:r>
              <a:t>Targeting Ministries of Agriculture and Multinational Exporters (like Dole/Chiquita). High-value preventative defense contracts to protect national GDP.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dark_dna_bg.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14400" y="457200"/>
            <a:ext cx="10362895" cy="1371600"/>
          </a:xfrm>
          <a:prstGeom prst="rect">
            <a:avLst/>
          </a:prstGeom>
          <a:noFill/>
        </p:spPr>
        <p:txBody>
          <a:bodyPr wrap="none">
            <a:spAutoFit/>
          </a:bodyPr>
          <a:lstStyle/>
          <a:p>
            <a:pPr algn="ctr">
              <a:defRPr sz="1800" b="1">
                <a:solidFill>
                  <a:srgbClr val="A855F7"/>
                </a:solidFill>
              </a:defRPr>
            </a:pPr>
            <a:r>
              <a:t>Execution Plan</a:t>
            </a:r>
          </a:p>
        </p:txBody>
      </p:sp>
      <p:sp>
        <p:nvSpPr>
          <p:cNvPr id="4" name="TextBox 3"/>
          <p:cNvSpPr txBox="1"/>
          <p:nvPr/>
        </p:nvSpPr>
        <p:spPr>
          <a:xfrm>
            <a:off x="914400" y="914400"/>
            <a:ext cx="10362895" cy="1371600"/>
          </a:xfrm>
          <a:prstGeom prst="rect">
            <a:avLst/>
          </a:prstGeom>
          <a:noFill/>
        </p:spPr>
        <p:txBody>
          <a:bodyPr wrap="none">
            <a:spAutoFit/>
          </a:bodyPr>
          <a:lstStyle/>
          <a:p>
            <a:pPr algn="ctr">
              <a:defRPr sz="5500" b="1">
                <a:solidFill>
                  <a:srgbClr val="FFFFFF"/>
                </a:solidFill>
              </a:defRPr>
            </a:pPr>
            <a:r>
              <a:t>Global Roadmap (2026+)</a:t>
            </a:r>
          </a:p>
        </p:txBody>
      </p:sp>
      <p:sp>
        <p:nvSpPr>
          <p:cNvPr id="5" name="TextBox 4"/>
          <p:cNvSpPr txBox="1"/>
          <p:nvPr/>
        </p:nvSpPr>
        <p:spPr>
          <a:xfrm>
            <a:off x="457200" y="2560320"/>
            <a:ext cx="3474720" cy="2743200"/>
          </a:xfrm>
          <a:prstGeom prst="rect">
            <a:avLst/>
          </a:prstGeom>
          <a:noFill/>
        </p:spPr>
        <p:txBody>
          <a:bodyPr wrap="square">
            <a:spAutoFit/>
          </a:bodyPr>
          <a:lstStyle/>
          <a:p>
            <a:pPr>
              <a:defRPr sz="2200" b="1">
                <a:solidFill>
                  <a:srgbClr val="FFFFFF"/>
                </a:solidFill>
              </a:defRPr>
            </a:pPr>
            <a:r>
              <a:t>1. Validation</a:t>
            </a:r>
            <a:br/>
            <a:r>
              <a:t>Present - Late 2026</a:t>
            </a:r>
          </a:p>
          <a:p>
            <a:br/>
            <a:pPr>
              <a:defRPr sz="1600">
                <a:solidFill>
                  <a:srgbClr val="C8C8C8"/>
                </a:solidFill>
              </a:defRPr>
            </a:pPr>
            <a:r>
              <a:t>• Hult Prize Regional/Global Finals.</a:t>
            </a:r>
            <a:br/>
            <a:r>
              <a:t>• Final training loop with USC LONI / ADNI datasets.</a:t>
            </a:r>
            <a:br/>
            <a:r>
              <a:t>• Agro-Edge deployed in pilot farms.</a:t>
            </a:r>
          </a:p>
        </p:txBody>
      </p:sp>
      <p:sp>
        <p:nvSpPr>
          <p:cNvPr id="6" name="TextBox 5"/>
          <p:cNvSpPr txBox="1"/>
          <p:nvPr/>
        </p:nvSpPr>
        <p:spPr>
          <a:xfrm>
            <a:off x="4297680" y="2560320"/>
            <a:ext cx="3474720" cy="2743200"/>
          </a:xfrm>
          <a:prstGeom prst="rect">
            <a:avLst/>
          </a:prstGeom>
          <a:noFill/>
        </p:spPr>
        <p:txBody>
          <a:bodyPr wrap="square">
            <a:spAutoFit/>
          </a:bodyPr>
          <a:lstStyle/>
          <a:p>
            <a:pPr>
              <a:defRPr sz="2200" b="1">
                <a:solidFill>
                  <a:srgbClr val="A855F7"/>
                </a:solidFill>
              </a:defRPr>
            </a:pPr>
            <a:r>
              <a:t>2. Pilot Entry</a:t>
            </a:r>
            <a:br/>
            <a:r>
              <a:t>2027</a:t>
            </a:r>
          </a:p>
          <a:p>
            <a:br/>
            <a:pPr>
              <a:defRPr sz="1600">
                <a:solidFill>
                  <a:srgbClr val="C8C8C8"/>
                </a:solidFill>
              </a:defRPr>
            </a:pPr>
            <a:r>
              <a:t>• First B2B medical clinics integrated in LatAm natively.</a:t>
            </a:r>
            <a:br/>
            <a:r>
              <a:t>• Government lobbying for TR4 prevention.</a:t>
            </a:r>
            <a:br/>
            <a:r>
              <a:t>• Seed Round funding ($1M+ Target).</a:t>
            </a:r>
          </a:p>
        </p:txBody>
      </p:sp>
      <p:sp>
        <p:nvSpPr>
          <p:cNvPr id="7" name="TextBox 6"/>
          <p:cNvSpPr txBox="1"/>
          <p:nvPr/>
        </p:nvSpPr>
        <p:spPr>
          <a:xfrm>
            <a:off x="8046720" y="2560320"/>
            <a:ext cx="3474720" cy="2743200"/>
          </a:xfrm>
          <a:prstGeom prst="rect">
            <a:avLst/>
          </a:prstGeom>
          <a:noFill/>
        </p:spPr>
        <p:txBody>
          <a:bodyPr wrap="square">
            <a:spAutoFit/>
          </a:bodyPr>
          <a:lstStyle/>
          <a:p>
            <a:pPr>
              <a:defRPr sz="2200" b="1">
                <a:solidFill>
                  <a:srgbClr val="38BDF8"/>
                </a:solidFill>
              </a:defRPr>
            </a:pPr>
            <a:r>
              <a:t>3. Deep Scaling</a:t>
            </a:r>
            <a:br/>
            <a:r>
              <a:t>2028+</a:t>
            </a:r>
          </a:p>
          <a:p>
            <a:br/>
            <a:pPr>
              <a:defRPr sz="1600">
                <a:solidFill>
                  <a:srgbClr val="C8C8C8"/>
                </a:solidFill>
              </a:defRPr>
            </a:pPr>
            <a:r>
              <a:t>• Enterprise partnerships with cloud providers.</a:t>
            </a:r>
            <a:br/>
            <a:r>
              <a:t>• Drone-automated inferencing for Agro.</a:t>
            </a:r>
            <a:br/>
            <a:r>
              <a:t>• Massive clinical expansions via APIs.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TextBox 1"/>
          <p:cNvSpPr txBox="1"/>
          <p:nvPr/>
        </p:nvSpPr>
        <p:spPr>
          <a:xfrm>
            <a:off x="914400" y="914400"/>
            <a:ext cx="10362895" cy="1371600"/>
          </a:xfrm>
          <a:prstGeom prst="rect">
            <a:avLst/>
          </a:prstGeom>
          <a:noFill/>
        </p:spPr>
        <p:txBody>
          <a:bodyPr wrap="none">
            <a:spAutoFit/>
          </a:bodyPr>
          <a:lstStyle/>
          <a:p>
            <a:pPr algn="ctr">
              <a:defRPr sz="5500" b="1">
                <a:solidFill>
                  <a:srgbClr val="FFFFFF"/>
                </a:solidFill>
              </a:defRPr>
            </a:pPr>
            <a:r>
              <a:t>The Engineering Team</a:t>
            </a:r>
          </a:p>
        </p:txBody>
      </p:sp>
      <p:sp>
        <p:nvSpPr>
          <p:cNvPr id="3" name="TextBox 2"/>
          <p:cNvSpPr txBox="1"/>
          <p:nvPr/>
        </p:nvSpPr>
        <p:spPr>
          <a:xfrm>
            <a:off x="914400" y="1645920"/>
            <a:ext cx="10362895" cy="1371600"/>
          </a:xfrm>
          <a:prstGeom prst="rect">
            <a:avLst/>
          </a:prstGeom>
          <a:noFill/>
        </p:spPr>
        <p:txBody>
          <a:bodyPr wrap="none">
            <a:spAutoFit/>
          </a:bodyPr>
          <a:lstStyle/>
          <a:p>
            <a:pPr algn="ctr">
              <a:defRPr sz="1800" b="1">
                <a:solidFill>
                  <a:srgbClr val="38BDF8"/>
                </a:solidFill>
              </a:defRPr>
            </a:pPr>
            <a:r>
              <a:t>Perdix Origin Core</a:t>
            </a:r>
          </a:p>
        </p:txBody>
      </p:sp>
      <p:sp>
        <p:nvSpPr>
          <p:cNvPr id="4" name="TextBox 3"/>
          <p:cNvSpPr txBox="1"/>
          <p:nvPr/>
        </p:nvSpPr>
        <p:spPr>
          <a:xfrm>
            <a:off x="914400" y="2743200"/>
            <a:ext cx="10362895" cy="1371600"/>
          </a:xfrm>
          <a:prstGeom prst="rect">
            <a:avLst/>
          </a:prstGeom>
          <a:noFill/>
        </p:spPr>
        <p:txBody>
          <a:bodyPr wrap="square">
            <a:spAutoFit/>
          </a:bodyPr>
          <a:lstStyle/>
          <a:p>
            <a:pPr algn="ctr">
              <a:defRPr sz="2400" b="1">
                <a:solidFill>
                  <a:srgbClr val="FFFFFF"/>
                </a:solidFill>
              </a:defRPr>
            </a:pPr>
            <a:r>
              <a:t>Erick Zambrano</a:t>
            </a:r>
            <a:br/>
            <a:r>
              <a:t>Head of AI Architecture</a:t>
            </a:r>
          </a:p>
          <a:p>
            <a:br/>
            <a:pPr algn="ctr">
              <a:defRPr sz="2400" b="1">
                <a:solidFill>
                  <a:srgbClr val="FFFFFF"/>
                </a:solidFill>
              </a:defRPr>
            </a:pPr>
            <a:r>
              <a:t>Perdix Team</a:t>
            </a:r>
            <a:br/>
            <a:r>
              <a:t>Medical &amp; Agrotech Deep Research</a:t>
            </a:r>
          </a:p>
        </p:txBody>
      </p:sp>
      <p:sp>
        <p:nvSpPr>
          <p:cNvPr id="5" name="TextBox 4"/>
          <p:cNvSpPr txBox="1"/>
          <p:nvPr/>
        </p:nvSpPr>
        <p:spPr>
          <a:xfrm>
            <a:off x="914400" y="5029200"/>
            <a:ext cx="10362895" cy="914400"/>
          </a:xfrm>
          <a:prstGeom prst="rect">
            <a:avLst/>
          </a:prstGeom>
          <a:noFill/>
        </p:spPr>
        <p:txBody>
          <a:bodyPr wrap="none">
            <a:spAutoFit/>
          </a:bodyPr>
          <a:lstStyle/>
          <a:p>
            <a:pPr algn="ctr">
              <a:defRPr sz="2800" b="1">
                <a:solidFill>
                  <a:srgbClr val="38BDF8"/>
                </a:solidFill>
              </a:defRPr>
            </a:pPr>
            <a:r>
              <a:t>LIVE PRODUCTION ENGINE:</a:t>
            </a:r>
            <a:br/>
            <a:r>
              <a:t>https://ingenieria-platform.vercel.app/</a:t>
            </a:r>
          </a:p>
          <a:p>
            <a:br/>
            <a:pPr algn="ctr">
              <a:defRPr sz="1400">
                <a:solidFill>
                  <a:srgbClr val="C8C8C8"/>
                </a:solidFill>
              </a:defRPr>
            </a:pPr>
            <a:r>
              <a:t>Powered by: Google DeepMind | USC LONI (IDEAS / ADNI) | Vercel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