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snapToObjects="1">
      <p:cViewPr varScale="1">
        <p:scale>
          <a:sx n="78" d="100"/>
          <a:sy n="78" d="100"/>
        </p:scale>
        <p:origin x="8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ingenieria-platform.vercel.app/"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webapp-pro.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969602" y="1062460"/>
            <a:ext cx="7918193" cy="523220"/>
          </a:xfrm>
          <a:prstGeom prst="rect">
            <a:avLst/>
          </a:prstGeom>
          <a:noFill/>
        </p:spPr>
        <p:txBody>
          <a:bodyPr wrap="none">
            <a:spAutoFit/>
          </a:bodyPr>
          <a:lstStyle/>
          <a:p>
            <a:pPr algn="ctr">
              <a:defRPr sz="1600" b="1">
                <a:solidFill>
                  <a:srgbClr val="38BDF8"/>
                </a:solidFill>
              </a:defRPr>
            </a:pPr>
            <a:r>
              <a:rPr sz="2800" dirty="0">
                <a:latin typeface="Amasis MT Pro Black" panose="02040A04050005020304" pitchFamily="18" charset="0"/>
              </a:rPr>
              <a:t>HULT PRIZE 2026 INTERNATIONAL PITCH</a:t>
            </a:r>
          </a:p>
        </p:txBody>
      </p:sp>
      <p:sp>
        <p:nvSpPr>
          <p:cNvPr id="4" name="TextBox 3"/>
          <p:cNvSpPr txBox="1"/>
          <p:nvPr/>
        </p:nvSpPr>
        <p:spPr>
          <a:xfrm>
            <a:off x="914400" y="2011680"/>
            <a:ext cx="10362895" cy="2092881"/>
          </a:xfrm>
          <a:prstGeom prst="rect">
            <a:avLst/>
          </a:prstGeom>
          <a:noFill/>
        </p:spPr>
        <p:txBody>
          <a:bodyPr wrap="square">
            <a:spAutoFit/>
          </a:bodyPr>
          <a:lstStyle/>
          <a:p>
            <a:pPr algn="ctr">
              <a:defRPr sz="6500" b="1">
                <a:solidFill>
                  <a:srgbClr val="FFFFFF"/>
                </a:solidFill>
              </a:defRPr>
            </a:pPr>
            <a:r>
              <a:rPr dirty="0">
                <a:latin typeface="Amasis MT Pro Black" panose="02040A04050005020304" pitchFamily="18" charset="0"/>
              </a:rPr>
              <a:t>Solving the Unseen.</a:t>
            </a:r>
            <a:br>
              <a:rPr dirty="0">
                <a:latin typeface="Amasis MT Pro Black" panose="02040A04050005020304" pitchFamily="18" charset="0"/>
              </a:rPr>
            </a:br>
            <a:r>
              <a:rPr dirty="0">
                <a:latin typeface="Amasis MT Pro Black" panose="02040A04050005020304" pitchFamily="18" charset="0"/>
              </a:rPr>
              <a:t>Scaling the Impact.</a:t>
            </a:r>
          </a:p>
        </p:txBody>
      </p:sp>
      <p:sp>
        <p:nvSpPr>
          <p:cNvPr id="5" name="TextBox 4"/>
          <p:cNvSpPr txBox="1"/>
          <p:nvPr/>
        </p:nvSpPr>
        <p:spPr>
          <a:xfrm>
            <a:off x="1371600" y="4572000"/>
            <a:ext cx="10053484" cy="769441"/>
          </a:xfrm>
          <a:prstGeom prst="rect">
            <a:avLst/>
          </a:prstGeom>
          <a:noFill/>
        </p:spPr>
        <p:txBody>
          <a:bodyPr wrap="square">
            <a:spAutoFit/>
          </a:bodyPr>
          <a:lstStyle/>
          <a:p>
            <a:pPr algn="ctr">
              <a:defRPr sz="2200" b="1">
                <a:solidFill>
                  <a:srgbClr val="E6E6E6"/>
                </a:solidFill>
              </a:defRPr>
            </a:pPr>
            <a:r>
              <a:rPr dirty="0">
                <a:latin typeface="Amasis MT Pro" panose="02040504050005020304" pitchFamily="18" charset="0"/>
              </a:rPr>
              <a:t>Pioneering Dual AI Architecture for Global Healthcare (Alzheimer's) and Food Security (Banana Plagues) powered by DeepMind &amp; USC LONI.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731520"/>
            <a:ext cx="9626353" cy="1477328"/>
          </a:xfrm>
          <a:prstGeom prst="rect">
            <a:avLst/>
          </a:prstGeom>
          <a:noFill/>
        </p:spPr>
        <p:txBody>
          <a:bodyPr wrap="none">
            <a:spAutoFit/>
          </a:bodyPr>
          <a:lstStyle/>
          <a:p>
            <a:pPr algn="l">
              <a:defRPr sz="4500" b="1">
                <a:solidFill>
                  <a:srgbClr val="FFFFFF"/>
                </a:solidFill>
              </a:defRPr>
            </a:pPr>
            <a:r>
              <a:rPr dirty="0">
                <a:solidFill>
                  <a:schemeClr val="tx2">
                    <a:lumMod val="60000"/>
                    <a:lumOff val="40000"/>
                  </a:schemeClr>
                </a:solidFill>
                <a:latin typeface="Amasis MT Pro Black" panose="02040A04050005020304" pitchFamily="18" charset="0"/>
              </a:rPr>
              <a:t>Two Planetary Crises.</a:t>
            </a:r>
            <a:br>
              <a:rPr dirty="0">
                <a:solidFill>
                  <a:schemeClr val="tx2">
                    <a:lumMod val="60000"/>
                    <a:lumOff val="40000"/>
                  </a:schemeClr>
                </a:solidFill>
                <a:latin typeface="Amasis MT Pro Black" panose="02040A04050005020304" pitchFamily="18" charset="0"/>
              </a:rPr>
            </a:br>
            <a:r>
              <a:rPr dirty="0">
                <a:solidFill>
                  <a:schemeClr val="tx2">
                    <a:lumMod val="60000"/>
                    <a:lumOff val="40000"/>
                  </a:schemeClr>
                </a:solidFill>
                <a:latin typeface="Amasis MT Pro Black" panose="02040A04050005020304" pitchFamily="18" charset="0"/>
              </a:rPr>
              <a:t>One Root Cause: Late Detection.</a:t>
            </a:r>
          </a:p>
        </p:txBody>
      </p:sp>
      <p:sp>
        <p:nvSpPr>
          <p:cNvPr id="4" name="TextBox 3"/>
          <p:cNvSpPr txBox="1"/>
          <p:nvPr/>
        </p:nvSpPr>
        <p:spPr>
          <a:xfrm>
            <a:off x="914400" y="2743200"/>
            <a:ext cx="4754880" cy="3200400"/>
          </a:xfrm>
          <a:prstGeom prst="rect">
            <a:avLst/>
          </a:prstGeom>
          <a:noFill/>
        </p:spPr>
        <p:txBody>
          <a:bodyPr wrap="square">
            <a:spAutoFit/>
          </a:bodyPr>
          <a:lstStyle/>
          <a:p>
            <a:pPr>
              <a:defRPr sz="2600" b="1">
                <a:solidFill>
                  <a:srgbClr val="FFFFFF"/>
                </a:solidFill>
              </a:defRPr>
            </a:pPr>
            <a:r>
              <a:rPr dirty="0">
                <a:solidFill>
                  <a:schemeClr val="tx2">
                    <a:lumMod val="60000"/>
                    <a:lumOff val="40000"/>
                  </a:schemeClr>
                </a:solidFill>
                <a:latin typeface="Amasis MT Pro" panose="02040504050005020304" pitchFamily="18" charset="0"/>
              </a:rPr>
              <a:t>1. Healthcare: Neurological Collapse</a:t>
            </a:r>
          </a:p>
          <a:p>
            <a:br>
              <a:rPr dirty="0">
                <a:solidFill>
                  <a:schemeClr val="bg1"/>
                </a:solidFill>
              </a:rPr>
            </a:br>
            <a:r>
              <a:rPr dirty="0">
                <a:solidFill>
                  <a:schemeClr val="bg1"/>
                </a:solidFill>
              </a:rPr>
              <a:t>• </a:t>
            </a:r>
            <a:r>
              <a:rPr dirty="0">
                <a:solidFill>
                  <a:schemeClr val="bg1"/>
                </a:solidFill>
                <a:latin typeface="Amasis MT Pro" panose="02040504050005020304" pitchFamily="18" charset="0"/>
              </a:rPr>
              <a:t>$1.3T Global economic cost of dementia. Structural brain damage is irreversible by the time symptoms appear.</a:t>
            </a:r>
          </a:p>
          <a:p>
            <a:br>
              <a:rPr dirty="0">
                <a:solidFill>
                  <a:schemeClr val="bg1"/>
                </a:solidFill>
                <a:latin typeface="Amasis MT Pro" panose="02040504050005020304" pitchFamily="18" charset="0"/>
              </a:rPr>
            </a:br>
            <a:r>
              <a:rPr dirty="0">
                <a:solidFill>
                  <a:schemeClr val="bg1"/>
                </a:solidFill>
                <a:latin typeface="Amasis MT Pro" panose="02040504050005020304" pitchFamily="18" charset="0"/>
              </a:rPr>
              <a:t>• 20% Misdiagnosis rate in standard health systems due to fragmented human analysis of MRIs.</a:t>
            </a:r>
          </a:p>
        </p:txBody>
      </p:sp>
      <p:sp>
        <p:nvSpPr>
          <p:cNvPr id="5" name="TextBox 4"/>
          <p:cNvSpPr txBox="1"/>
          <p:nvPr/>
        </p:nvSpPr>
        <p:spPr>
          <a:xfrm>
            <a:off x="6400800" y="2743200"/>
            <a:ext cx="4754880" cy="3200400"/>
          </a:xfrm>
          <a:prstGeom prst="rect">
            <a:avLst/>
          </a:prstGeom>
          <a:noFill/>
        </p:spPr>
        <p:txBody>
          <a:bodyPr wrap="square">
            <a:spAutoFit/>
          </a:bodyPr>
          <a:lstStyle/>
          <a:p>
            <a:pPr>
              <a:defRPr sz="2600" b="1">
                <a:solidFill>
                  <a:srgbClr val="FFFFFF"/>
                </a:solidFill>
              </a:defRPr>
            </a:pPr>
            <a:r>
              <a:rPr dirty="0">
                <a:solidFill>
                  <a:schemeClr val="tx2">
                    <a:lumMod val="60000"/>
                    <a:lumOff val="40000"/>
                  </a:schemeClr>
                </a:solidFill>
                <a:latin typeface="Amasis MT Pro" panose="02040504050005020304" pitchFamily="18" charset="0"/>
              </a:rPr>
              <a:t>2. Food Security: Agricultural Collapse</a:t>
            </a:r>
          </a:p>
          <a:p>
            <a:br>
              <a:rPr dirty="0">
                <a:solidFill>
                  <a:schemeClr val="bg1"/>
                </a:solidFill>
                <a:latin typeface="Amasis MT Pro" panose="02040504050005020304" pitchFamily="18" charset="0"/>
              </a:rPr>
            </a:br>
            <a:r>
              <a:rPr dirty="0">
                <a:solidFill>
                  <a:schemeClr val="bg1"/>
                </a:solidFill>
                <a:latin typeface="Amasis MT Pro" panose="02040504050005020304" pitchFamily="18" charset="0"/>
              </a:rPr>
              <a:t>• 400M+ People rely on bananas as their staple food. TR4 Fusarium Wilt destroys entire plantations.</a:t>
            </a:r>
          </a:p>
          <a:p>
            <a:br>
              <a:rPr dirty="0">
                <a:solidFill>
                  <a:schemeClr val="bg1"/>
                </a:solidFill>
                <a:latin typeface="Amasis MT Pro" panose="02040504050005020304" pitchFamily="18" charset="0"/>
              </a:rPr>
            </a:br>
            <a:r>
              <a:rPr dirty="0">
                <a:solidFill>
                  <a:schemeClr val="bg1"/>
                </a:solidFill>
                <a:latin typeface="Amasis MT Pro" panose="02040504050005020304" pitchFamily="18" charset="0"/>
              </a:rPr>
              <a:t>• 100% Crop loss occurs because farmers lack access to laboratory-grade phytopathology tools in the field.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extBox 1"/>
          <p:cNvSpPr txBox="1"/>
          <p:nvPr/>
        </p:nvSpPr>
        <p:spPr>
          <a:xfrm>
            <a:off x="4116203" y="457200"/>
            <a:ext cx="3959290" cy="523220"/>
          </a:xfrm>
          <a:prstGeom prst="rect">
            <a:avLst/>
          </a:prstGeom>
          <a:noFill/>
        </p:spPr>
        <p:txBody>
          <a:bodyPr wrap="none">
            <a:spAutoFit/>
          </a:bodyPr>
          <a:lstStyle/>
          <a:p>
            <a:pPr algn="ctr">
              <a:defRPr sz="1800" b="1">
                <a:solidFill>
                  <a:srgbClr val="A855F7"/>
                </a:solidFill>
              </a:defRPr>
            </a:pPr>
            <a:r>
              <a:rPr sz="2800" dirty="0">
                <a:latin typeface="Amasis MT Pro Black" panose="02040A04050005020304" pitchFamily="18" charset="0"/>
              </a:rPr>
              <a:t>The Unified AI Brain</a:t>
            </a:r>
          </a:p>
        </p:txBody>
      </p:sp>
      <p:sp>
        <p:nvSpPr>
          <p:cNvPr id="3" name="TextBox 2"/>
          <p:cNvSpPr txBox="1"/>
          <p:nvPr/>
        </p:nvSpPr>
        <p:spPr>
          <a:xfrm>
            <a:off x="1958657" y="914400"/>
            <a:ext cx="8274380" cy="938719"/>
          </a:xfrm>
          <a:prstGeom prst="rect">
            <a:avLst/>
          </a:prstGeom>
          <a:noFill/>
        </p:spPr>
        <p:txBody>
          <a:bodyPr wrap="none">
            <a:spAutoFit/>
          </a:bodyPr>
          <a:lstStyle/>
          <a:p>
            <a:pPr algn="ctr">
              <a:defRPr sz="5500" b="1">
                <a:solidFill>
                  <a:srgbClr val="FFFFFF"/>
                </a:solidFill>
              </a:defRPr>
            </a:pPr>
            <a:r>
              <a:rPr dirty="0">
                <a:latin typeface="Amasis MT Pro Black" panose="02040A04050005020304" pitchFamily="18" charset="0"/>
              </a:rPr>
              <a:t>Perdix Origin Platform</a:t>
            </a:r>
          </a:p>
        </p:txBody>
      </p:sp>
      <p:sp>
        <p:nvSpPr>
          <p:cNvPr id="5" name="TextBox 4"/>
          <p:cNvSpPr txBox="1"/>
          <p:nvPr/>
        </p:nvSpPr>
        <p:spPr>
          <a:xfrm>
            <a:off x="1371600" y="4114800"/>
            <a:ext cx="3657600" cy="1015663"/>
          </a:xfrm>
          <a:prstGeom prst="rect">
            <a:avLst/>
          </a:prstGeom>
          <a:noFill/>
        </p:spPr>
        <p:txBody>
          <a:bodyPr wrap="square">
            <a:spAutoFit/>
          </a:bodyPr>
          <a:lstStyle/>
          <a:p>
            <a:pPr algn="ctr">
              <a:defRPr sz="2800" b="1">
                <a:solidFill>
                  <a:srgbClr val="FFFFFF"/>
                </a:solidFill>
              </a:defRPr>
            </a:pPr>
            <a:r>
              <a:rPr dirty="0">
                <a:latin typeface="Amasis MT Pro" panose="02040504050005020304" pitchFamily="18" charset="0"/>
              </a:rPr>
              <a:t>🧠 Cloud AI</a:t>
            </a:r>
          </a:p>
          <a:p>
            <a:pPr algn="ctr">
              <a:defRPr sz="1600" b="1">
                <a:solidFill>
                  <a:srgbClr val="C8C8C8"/>
                </a:solidFill>
              </a:defRPr>
            </a:pPr>
            <a:r>
              <a:rPr dirty="0">
                <a:latin typeface="Amasis MT Pro" panose="02040504050005020304" pitchFamily="18" charset="0"/>
              </a:rPr>
              <a:t>Deep Tensor Extraction &amp; Healthcare Multi-modal Fusion</a:t>
            </a:r>
          </a:p>
        </p:txBody>
      </p:sp>
      <p:sp>
        <p:nvSpPr>
          <p:cNvPr id="6" name="TextBox 5"/>
          <p:cNvSpPr txBox="1"/>
          <p:nvPr/>
        </p:nvSpPr>
        <p:spPr>
          <a:xfrm>
            <a:off x="5045720" y="4114800"/>
            <a:ext cx="2100255" cy="1015663"/>
          </a:xfrm>
          <a:prstGeom prst="rect">
            <a:avLst/>
          </a:prstGeom>
          <a:noFill/>
        </p:spPr>
        <p:txBody>
          <a:bodyPr wrap="none">
            <a:spAutoFit/>
          </a:bodyPr>
          <a:lstStyle/>
          <a:p>
            <a:pPr algn="ctr">
              <a:defRPr sz="4000">
                <a:solidFill>
                  <a:srgbClr val="A855F7"/>
                </a:solidFill>
              </a:defRPr>
            </a:pPr>
            <a:r>
              <a:rPr sz="6000" dirty="0"/>
              <a:t>&lt;===&gt;</a:t>
            </a:r>
          </a:p>
        </p:txBody>
      </p:sp>
      <p:sp>
        <p:nvSpPr>
          <p:cNvPr id="7" name="TextBox 6"/>
          <p:cNvSpPr txBox="1"/>
          <p:nvPr/>
        </p:nvSpPr>
        <p:spPr>
          <a:xfrm>
            <a:off x="7132320" y="4114800"/>
            <a:ext cx="4145280" cy="1015663"/>
          </a:xfrm>
          <a:prstGeom prst="rect">
            <a:avLst/>
          </a:prstGeom>
          <a:noFill/>
        </p:spPr>
        <p:txBody>
          <a:bodyPr wrap="square">
            <a:spAutoFit/>
          </a:bodyPr>
          <a:lstStyle/>
          <a:p>
            <a:pPr algn="ctr">
              <a:defRPr sz="2800" b="1">
                <a:solidFill>
                  <a:srgbClr val="FFFFFF"/>
                </a:solidFill>
              </a:defRPr>
            </a:pPr>
            <a:r>
              <a:rPr dirty="0">
                <a:latin typeface="Amasis MT Pro" panose="02040504050005020304" pitchFamily="18" charset="0"/>
              </a:rPr>
              <a:t>📱 Edge AI</a:t>
            </a:r>
          </a:p>
          <a:p>
            <a:pPr algn="ctr">
              <a:defRPr sz="1600" b="1">
                <a:solidFill>
                  <a:srgbClr val="C8C8C8"/>
                </a:solidFill>
              </a:defRPr>
            </a:pPr>
            <a:r>
              <a:rPr dirty="0" err="1">
                <a:latin typeface="Amasis MT Pro" panose="02040504050005020304" pitchFamily="18" charset="0"/>
              </a:rPr>
              <a:t>Agrotech</a:t>
            </a:r>
            <a:r>
              <a:rPr dirty="0">
                <a:latin typeface="Amasis MT Pro" panose="02040504050005020304" pitchFamily="18" charset="0"/>
              </a:rPr>
              <a:t> Computer Vision engineered for Mobile Offline Inferencing</a:t>
            </a:r>
          </a:p>
        </p:txBody>
      </p:sp>
      <p:sp>
        <p:nvSpPr>
          <p:cNvPr id="9" name="CuadroTexto 8">
            <a:extLst>
              <a:ext uri="{FF2B5EF4-FFF2-40B4-BE49-F238E27FC236}">
                <a16:creationId xmlns:a16="http://schemas.microsoft.com/office/drawing/2014/main" id="{E25CFC39-8FA0-EB51-641D-786015AC408D}"/>
              </a:ext>
            </a:extLst>
          </p:cNvPr>
          <p:cNvSpPr txBox="1"/>
          <p:nvPr/>
        </p:nvSpPr>
        <p:spPr>
          <a:xfrm>
            <a:off x="2694039" y="2338608"/>
            <a:ext cx="6096000" cy="1015663"/>
          </a:xfrm>
          <a:prstGeom prst="rect">
            <a:avLst/>
          </a:prstGeom>
          <a:noFill/>
        </p:spPr>
        <p:txBody>
          <a:bodyPr wrap="square">
            <a:spAutoFit/>
          </a:bodyPr>
          <a:lstStyle/>
          <a:p>
            <a:pPr algn="ctr">
              <a:defRPr sz="2000">
                <a:solidFill>
                  <a:srgbClr val="C8C8C8"/>
                </a:solidFill>
              </a:defRPr>
            </a:pPr>
            <a:r>
              <a:rPr lang="en-US" dirty="0">
                <a:latin typeface="Amasis MT Pro" panose="02040504050005020304" pitchFamily="18" charset="0"/>
              </a:rPr>
              <a:t>Different problems, identical underlying mathematical challenge: Pattern Recognition at early stages. Our platform orchestrates two specialized engines.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2797882" cy="369332"/>
          </a:xfrm>
          <a:prstGeom prst="rect">
            <a:avLst/>
          </a:prstGeom>
          <a:noFill/>
        </p:spPr>
        <p:txBody>
          <a:bodyPr wrap="none">
            <a:spAutoFit/>
          </a:bodyPr>
          <a:lstStyle/>
          <a:p>
            <a:pPr algn="l">
              <a:defRPr sz="1800" b="1">
                <a:solidFill>
                  <a:srgbClr val="3B82F6"/>
                </a:solidFill>
              </a:defRPr>
            </a:pPr>
            <a:r>
              <a:rPr dirty="0">
                <a:latin typeface="Amasis MT Pro" panose="02040504050005020304" pitchFamily="18" charset="0"/>
              </a:rPr>
              <a:t>Global Data Foundation</a:t>
            </a:r>
          </a:p>
        </p:txBody>
      </p:sp>
      <p:sp>
        <p:nvSpPr>
          <p:cNvPr id="4" name="TextBox 3"/>
          <p:cNvSpPr txBox="1"/>
          <p:nvPr/>
        </p:nvSpPr>
        <p:spPr>
          <a:xfrm>
            <a:off x="914400" y="914400"/>
            <a:ext cx="8771953" cy="784830"/>
          </a:xfrm>
          <a:prstGeom prst="rect">
            <a:avLst/>
          </a:prstGeom>
          <a:noFill/>
        </p:spPr>
        <p:txBody>
          <a:bodyPr wrap="none">
            <a:spAutoFit/>
          </a:bodyPr>
          <a:lstStyle/>
          <a:p>
            <a:pPr algn="l">
              <a:defRPr sz="4500" b="1">
                <a:solidFill>
                  <a:srgbClr val="FFFFFF"/>
                </a:solidFill>
              </a:defRPr>
            </a:pPr>
            <a:r>
              <a:rPr dirty="0">
                <a:solidFill>
                  <a:schemeClr val="accent6"/>
                </a:solidFill>
                <a:latin typeface="Amasis MT Pro" panose="02040504050005020304" pitchFamily="18" charset="0"/>
              </a:rPr>
              <a:t>USC LONI &amp; The IDEAS Project</a:t>
            </a:r>
          </a:p>
        </p:txBody>
      </p:sp>
      <p:sp>
        <p:nvSpPr>
          <p:cNvPr id="5" name="TextBox 4"/>
          <p:cNvSpPr txBox="1"/>
          <p:nvPr/>
        </p:nvSpPr>
        <p:spPr>
          <a:xfrm>
            <a:off x="914400" y="1828800"/>
            <a:ext cx="5943600" cy="4114800"/>
          </a:xfrm>
          <a:prstGeom prst="rect">
            <a:avLst/>
          </a:prstGeom>
          <a:noFill/>
        </p:spPr>
        <p:txBody>
          <a:bodyPr wrap="square">
            <a:spAutoFit/>
          </a:bodyPr>
          <a:lstStyle/>
          <a:p>
            <a:pPr>
              <a:defRPr sz="1800">
                <a:solidFill>
                  <a:srgbClr val="FAFAFA"/>
                </a:solidFill>
              </a:defRPr>
            </a:pPr>
            <a:r>
              <a:rPr dirty="0">
                <a:latin typeface="Amasis MT Pro" panose="02040504050005020304" pitchFamily="18" charset="0"/>
              </a:rPr>
              <a:t>Our AI models aren't trained on synthetic or standard data. We leverage the Image Data Archive (IDA) from the Laboratory of Neuro Imaging (LONI) at the University of Southern California (USC).</a:t>
            </a:r>
            <a:br>
              <a:rPr dirty="0">
                <a:latin typeface="Amasis MT Pro" panose="02040504050005020304" pitchFamily="18" charset="0"/>
              </a:rPr>
            </a:br>
            <a:endParaRPr dirty="0">
              <a:latin typeface="Amasis MT Pro" panose="02040504050005020304" pitchFamily="18" charset="0"/>
            </a:endParaRPr>
          </a:p>
          <a:p>
            <a:pPr>
              <a:defRPr sz="2000" b="1">
                <a:solidFill>
                  <a:srgbClr val="FFFFFF"/>
                </a:solidFill>
              </a:defRPr>
            </a:pPr>
            <a:r>
              <a:rPr dirty="0">
                <a:solidFill>
                  <a:schemeClr val="bg2">
                    <a:lumMod val="10000"/>
                  </a:schemeClr>
                </a:solidFill>
                <a:latin typeface="Amasis MT Pro" panose="02040504050005020304" pitchFamily="18" charset="0"/>
              </a:rPr>
              <a:t>■ The IDEAS Study Validation</a:t>
            </a:r>
          </a:p>
          <a:p>
            <a:pPr>
              <a:defRPr sz="1600" b="1">
                <a:solidFill>
                  <a:srgbClr val="E6E6E6"/>
                </a:solidFill>
              </a:defRPr>
            </a:pPr>
            <a:r>
              <a:rPr dirty="0">
                <a:latin typeface="Amasis MT Pro" panose="02040504050005020304" pitchFamily="18" charset="0"/>
              </a:rPr>
              <a:t>We base our architecture on findings correlated with the IDEAS (Imaging Dementia—Evidence for Amyloid Scanning) project, enhancing PET scan analytical correlations with </a:t>
            </a:r>
            <a:r>
              <a:rPr dirty="0" err="1">
                <a:latin typeface="Amasis MT Pro" panose="02040504050005020304" pitchFamily="18" charset="0"/>
              </a:rPr>
              <a:t>NIfTI</a:t>
            </a:r>
            <a:r>
              <a:rPr dirty="0">
                <a:latin typeface="Amasis MT Pro" panose="02040504050005020304" pitchFamily="18" charset="0"/>
              </a:rPr>
              <a:t> MRI.</a:t>
            </a:r>
            <a:br>
              <a:rPr dirty="0">
                <a:latin typeface="Amasis MT Pro" panose="02040504050005020304" pitchFamily="18" charset="0"/>
              </a:rPr>
            </a:br>
            <a:endParaRPr dirty="0">
              <a:latin typeface="Amasis MT Pro" panose="02040504050005020304" pitchFamily="18" charset="0"/>
            </a:endParaRPr>
          </a:p>
          <a:p>
            <a:pPr>
              <a:defRPr sz="2000" b="1">
                <a:solidFill>
                  <a:srgbClr val="FFFFFF"/>
                </a:solidFill>
              </a:defRPr>
            </a:pPr>
            <a:r>
              <a:rPr dirty="0">
                <a:solidFill>
                  <a:schemeClr val="bg2">
                    <a:lumMod val="10000"/>
                  </a:schemeClr>
                </a:solidFill>
                <a:latin typeface="Amasis MT Pro" panose="02040504050005020304" pitchFamily="18" charset="0"/>
              </a:rPr>
              <a:t>■ ADNI Standardization</a:t>
            </a:r>
          </a:p>
          <a:p>
            <a:pPr>
              <a:defRPr sz="1600" b="1">
                <a:solidFill>
                  <a:srgbClr val="E6E6E6"/>
                </a:solidFill>
              </a:defRPr>
            </a:pPr>
            <a:r>
              <a:rPr dirty="0">
                <a:latin typeface="Amasis MT Pro" panose="02040504050005020304" pitchFamily="18" charset="0"/>
              </a:rPr>
              <a:t>Strict adherence to Alzheimer's Disease Neuroimaging Initiative standardizations, parsing thousands of multi-country subjects ensuring zero bias clinical reliability.</a:t>
            </a:r>
          </a:p>
        </p:txBody>
      </p:sp>
      <p:sp>
        <p:nvSpPr>
          <p:cNvPr id="6" name="TextBox 5"/>
          <p:cNvSpPr txBox="1"/>
          <p:nvPr/>
        </p:nvSpPr>
        <p:spPr>
          <a:xfrm>
            <a:off x="6862318" y="3657600"/>
            <a:ext cx="4563365" cy="1184940"/>
          </a:xfrm>
          <a:prstGeom prst="rect">
            <a:avLst/>
          </a:prstGeom>
          <a:noFill/>
        </p:spPr>
        <p:txBody>
          <a:bodyPr wrap="none">
            <a:spAutoFit/>
          </a:bodyPr>
          <a:lstStyle/>
          <a:p>
            <a:pPr algn="ctr">
              <a:defRPr sz="5500" b="1">
                <a:solidFill>
                  <a:srgbClr val="FFFFFF"/>
                </a:solidFill>
              </a:defRPr>
            </a:pPr>
            <a:r>
              <a:rPr dirty="0">
                <a:latin typeface="Amasis MT Pro Black" panose="02040A04050005020304" pitchFamily="18" charset="0"/>
              </a:rPr>
              <a:t>145,000+</a:t>
            </a:r>
          </a:p>
          <a:p>
            <a:pPr algn="ctr">
              <a:defRPr sz="1600" b="1">
                <a:solidFill>
                  <a:srgbClr val="C8C8C8"/>
                </a:solidFill>
              </a:defRPr>
            </a:pPr>
            <a:r>
              <a:rPr dirty="0">
                <a:latin typeface="Amasis MT Pro" panose="02040504050005020304" pitchFamily="18" charset="0"/>
              </a:rPr>
              <a:t>SIGNATURES ANALYZED BY IDA GLOBALLY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2799805" cy="400110"/>
          </a:xfrm>
          <a:prstGeom prst="rect">
            <a:avLst/>
          </a:prstGeom>
          <a:noFill/>
        </p:spPr>
        <p:txBody>
          <a:bodyPr wrap="none">
            <a:spAutoFit/>
          </a:bodyPr>
          <a:lstStyle/>
          <a:p>
            <a:pPr algn="l">
              <a:defRPr sz="1800" b="1">
                <a:solidFill>
                  <a:srgbClr val="38BDF8"/>
                </a:solidFill>
              </a:defRPr>
            </a:pPr>
            <a:r>
              <a:rPr sz="2000" dirty="0">
                <a:latin typeface="Amasis MT Pro" panose="02040504050005020304" pitchFamily="18" charset="0"/>
              </a:rPr>
              <a:t>Technological Moat 1</a:t>
            </a:r>
          </a:p>
        </p:txBody>
      </p:sp>
      <p:sp>
        <p:nvSpPr>
          <p:cNvPr id="4" name="TextBox 3"/>
          <p:cNvSpPr txBox="1"/>
          <p:nvPr/>
        </p:nvSpPr>
        <p:spPr>
          <a:xfrm>
            <a:off x="914400" y="914400"/>
            <a:ext cx="9661619" cy="707886"/>
          </a:xfrm>
          <a:prstGeom prst="rect">
            <a:avLst/>
          </a:prstGeom>
          <a:noFill/>
        </p:spPr>
        <p:txBody>
          <a:bodyPr wrap="none">
            <a:spAutoFit/>
          </a:bodyPr>
          <a:lstStyle/>
          <a:p>
            <a:pPr algn="l">
              <a:defRPr sz="4000" b="1">
                <a:solidFill>
                  <a:srgbClr val="FFFFFF"/>
                </a:solidFill>
              </a:defRPr>
            </a:pPr>
            <a:r>
              <a:rPr dirty="0">
                <a:solidFill>
                  <a:schemeClr val="accent3">
                    <a:lumMod val="60000"/>
                    <a:lumOff val="40000"/>
                  </a:schemeClr>
                </a:solidFill>
                <a:latin typeface="Amasis MT Pro" panose="02040504050005020304" pitchFamily="18" charset="0"/>
              </a:rPr>
              <a:t>Healthcare: </a:t>
            </a:r>
            <a:r>
              <a:rPr dirty="0" err="1">
                <a:solidFill>
                  <a:schemeClr val="accent3">
                    <a:lumMod val="60000"/>
                    <a:lumOff val="40000"/>
                  </a:schemeClr>
                </a:solidFill>
                <a:latin typeface="Amasis MT Pro" panose="02040504050005020304" pitchFamily="18" charset="0"/>
              </a:rPr>
              <a:t>MedGemma</a:t>
            </a:r>
            <a:r>
              <a:rPr dirty="0">
                <a:solidFill>
                  <a:schemeClr val="accent3">
                    <a:lumMod val="60000"/>
                    <a:lumOff val="40000"/>
                  </a:schemeClr>
                </a:solidFill>
                <a:latin typeface="Amasis MT Pro" panose="02040504050005020304" pitchFamily="18" charset="0"/>
              </a:rPr>
              <a:t> &amp; Late-Fusion</a:t>
            </a:r>
          </a:p>
        </p:txBody>
      </p:sp>
      <p:sp>
        <p:nvSpPr>
          <p:cNvPr id="5" name="TextBox 4"/>
          <p:cNvSpPr txBox="1"/>
          <p:nvPr/>
        </p:nvSpPr>
        <p:spPr>
          <a:xfrm>
            <a:off x="914400" y="1828800"/>
            <a:ext cx="4114800" cy="4185761"/>
          </a:xfrm>
          <a:prstGeom prst="rect">
            <a:avLst/>
          </a:prstGeom>
          <a:noFill/>
        </p:spPr>
        <p:txBody>
          <a:bodyPr wrap="square">
            <a:spAutoFit/>
          </a:bodyPr>
          <a:lstStyle/>
          <a:p>
            <a:pPr>
              <a:defRPr sz="1400" b="1">
                <a:solidFill>
                  <a:srgbClr val="38BDF8"/>
                </a:solidFill>
              </a:defRPr>
            </a:pPr>
            <a:r>
              <a:rPr sz="2000" dirty="0">
                <a:latin typeface="Amasis MT Pro" panose="02040504050005020304" pitchFamily="18" charset="0"/>
              </a:rPr>
              <a:t>Google DeepMind Integration</a:t>
            </a:r>
          </a:p>
          <a:p>
            <a:pPr>
              <a:defRPr sz="2200" b="1">
                <a:solidFill>
                  <a:srgbClr val="FFFFFF"/>
                </a:solidFill>
              </a:defRPr>
            </a:pPr>
            <a:r>
              <a:rPr dirty="0">
                <a:solidFill>
                  <a:schemeClr val="accent6">
                    <a:lumMod val="60000"/>
                    <a:lumOff val="40000"/>
                  </a:schemeClr>
                </a:solidFill>
                <a:latin typeface="Amasis MT Pro" panose="02040504050005020304" pitchFamily="18" charset="0"/>
              </a:rPr>
              <a:t>MedGemma-4B-IT Ecosystem</a:t>
            </a:r>
          </a:p>
          <a:p>
            <a:pPr>
              <a:defRPr sz="1600" b="1">
                <a:solidFill>
                  <a:srgbClr val="DCDCDC"/>
                </a:solidFill>
              </a:defRPr>
            </a:pPr>
            <a:r>
              <a:rPr dirty="0">
                <a:latin typeface="Amasis MT Pro" panose="02040504050005020304" pitchFamily="18" charset="0"/>
              </a:rPr>
              <a:t>We process dense clinical data and EHR using Google's pioneering medical LLM, bridging the gap between raw data and digestible medical insights.</a:t>
            </a:r>
            <a:br>
              <a:rPr dirty="0">
                <a:latin typeface="Amasis MT Pro" panose="02040504050005020304" pitchFamily="18" charset="0"/>
              </a:rPr>
            </a:br>
            <a:endParaRPr dirty="0">
              <a:latin typeface="Amasis MT Pro" panose="02040504050005020304" pitchFamily="18" charset="0"/>
            </a:endParaRPr>
          </a:p>
          <a:p>
            <a:pPr>
              <a:defRPr sz="1400" b="1">
                <a:solidFill>
                  <a:srgbClr val="A855F7"/>
                </a:solidFill>
              </a:defRPr>
            </a:pPr>
            <a:r>
              <a:rPr sz="2000" dirty="0">
                <a:latin typeface="Amasis MT Pro" panose="02040504050005020304" pitchFamily="18" charset="0"/>
              </a:rPr>
              <a:t>Proprietary Architecture</a:t>
            </a:r>
          </a:p>
          <a:p>
            <a:pPr>
              <a:defRPr sz="2200" b="1">
                <a:solidFill>
                  <a:srgbClr val="FFFFFF"/>
                </a:solidFill>
              </a:defRPr>
            </a:pPr>
            <a:r>
              <a:rPr dirty="0">
                <a:solidFill>
                  <a:schemeClr val="accent6">
                    <a:lumMod val="60000"/>
                    <a:lumOff val="40000"/>
                  </a:schemeClr>
                </a:solidFill>
                <a:latin typeface="Amasis MT Pro" panose="02040504050005020304" pitchFamily="18" charset="0"/>
              </a:rPr>
              <a:t>Late-Fusion Multivariate AI</a:t>
            </a:r>
          </a:p>
          <a:p>
            <a:pPr>
              <a:defRPr sz="1600" b="1">
                <a:solidFill>
                  <a:srgbClr val="DCDCDC"/>
                </a:solidFill>
              </a:defRPr>
            </a:pPr>
            <a:r>
              <a:rPr dirty="0">
                <a:latin typeface="Amasis MT Pro" panose="02040504050005020304" pitchFamily="18" charset="0"/>
              </a:rPr>
              <a:t>Our clinical AI organically fuses 128 deep </a:t>
            </a:r>
            <a:r>
              <a:rPr dirty="0" err="1">
                <a:latin typeface="Amasis MT Pro" panose="02040504050005020304" pitchFamily="18" charset="0"/>
              </a:rPr>
              <a:t>Keras</a:t>
            </a:r>
            <a:r>
              <a:rPr dirty="0">
                <a:latin typeface="Amasis MT Pro" panose="02040504050005020304" pitchFamily="18" charset="0"/>
              </a:rPr>
              <a:t> parameters perfectly intertwined with Patient Age, MMSE, and clinical history through an </a:t>
            </a:r>
            <a:r>
              <a:rPr dirty="0" err="1">
                <a:latin typeface="Amasis MT Pro" panose="02040504050005020304" pitchFamily="18" charset="0"/>
              </a:rPr>
              <a:t>XGBoost</a:t>
            </a:r>
            <a:r>
              <a:rPr dirty="0">
                <a:latin typeface="Amasis MT Pro" panose="02040504050005020304" pitchFamily="18" charset="0"/>
              </a:rPr>
              <a:t> logic tree.</a:t>
            </a:r>
          </a:p>
        </p:txBody>
      </p:sp>
      <p:pic>
        <p:nvPicPr>
          <p:cNvPr id="6" name="Picture 5" descr="cm_real.png"/>
          <p:cNvPicPr>
            <a:picLocks noChangeAspect="1"/>
          </p:cNvPicPr>
          <p:nvPr/>
        </p:nvPicPr>
        <p:blipFill>
          <a:blip r:embed="rId3"/>
          <a:stretch>
            <a:fillRect/>
          </a:stretch>
        </p:blipFill>
        <p:spPr>
          <a:xfrm>
            <a:off x="5303520" y="2011680"/>
            <a:ext cx="3200400" cy="2818034"/>
          </a:xfrm>
          <a:prstGeom prst="rect">
            <a:avLst/>
          </a:prstGeom>
        </p:spPr>
      </p:pic>
      <p:pic>
        <p:nvPicPr>
          <p:cNvPr id="7" name="Picture 6" descr="roc_real.png"/>
          <p:cNvPicPr>
            <a:picLocks noChangeAspect="1"/>
          </p:cNvPicPr>
          <p:nvPr/>
        </p:nvPicPr>
        <p:blipFill>
          <a:blip r:embed="rId4"/>
          <a:stretch>
            <a:fillRect/>
          </a:stretch>
        </p:blipFill>
        <p:spPr>
          <a:xfrm>
            <a:off x="8686800" y="2011680"/>
            <a:ext cx="3200400" cy="26651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ana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827904" y="731520"/>
            <a:ext cx="2535886" cy="369332"/>
          </a:xfrm>
          <a:prstGeom prst="rect">
            <a:avLst/>
          </a:prstGeom>
          <a:noFill/>
        </p:spPr>
        <p:txBody>
          <a:bodyPr wrap="none">
            <a:spAutoFit/>
          </a:bodyPr>
          <a:lstStyle/>
          <a:p>
            <a:pPr algn="ctr">
              <a:defRPr sz="1800" b="1">
                <a:solidFill>
                  <a:srgbClr val="4ADE80"/>
                </a:solidFill>
              </a:defRPr>
            </a:pPr>
            <a:r>
              <a:rPr>
                <a:latin typeface="Amasis MT Pro" panose="02040504050005020304" pitchFamily="18" charset="0"/>
              </a:rPr>
              <a:t>Technological Moat 2</a:t>
            </a:r>
          </a:p>
        </p:txBody>
      </p:sp>
      <p:sp>
        <p:nvSpPr>
          <p:cNvPr id="4" name="TextBox 3"/>
          <p:cNvSpPr txBox="1"/>
          <p:nvPr/>
        </p:nvSpPr>
        <p:spPr>
          <a:xfrm>
            <a:off x="1966704" y="1188720"/>
            <a:ext cx="8258286" cy="938719"/>
          </a:xfrm>
          <a:prstGeom prst="rect">
            <a:avLst/>
          </a:prstGeom>
          <a:noFill/>
        </p:spPr>
        <p:txBody>
          <a:bodyPr wrap="none">
            <a:spAutoFit/>
          </a:bodyPr>
          <a:lstStyle/>
          <a:p>
            <a:pPr algn="ctr">
              <a:defRPr sz="5500" b="1">
                <a:solidFill>
                  <a:srgbClr val="FFFFFF"/>
                </a:solidFill>
              </a:defRPr>
            </a:pPr>
            <a:r>
              <a:rPr dirty="0">
                <a:solidFill>
                  <a:schemeClr val="accent3"/>
                </a:solidFill>
                <a:latin typeface="Amasis MT Pro" panose="02040504050005020304" pitchFamily="18" charset="0"/>
              </a:rPr>
              <a:t>Banana Disease Edge AI</a:t>
            </a:r>
          </a:p>
        </p:txBody>
      </p:sp>
      <p:sp>
        <p:nvSpPr>
          <p:cNvPr id="5" name="TextBox 4"/>
          <p:cNvSpPr txBox="1"/>
          <p:nvPr/>
        </p:nvSpPr>
        <p:spPr>
          <a:xfrm>
            <a:off x="0" y="2743200"/>
            <a:ext cx="12083845" cy="461665"/>
          </a:xfrm>
          <a:prstGeom prst="rect">
            <a:avLst/>
          </a:prstGeom>
          <a:noFill/>
        </p:spPr>
        <p:txBody>
          <a:bodyPr wrap="square">
            <a:spAutoFit/>
          </a:bodyPr>
          <a:lstStyle/>
          <a:p>
            <a:pPr algn="ctr">
              <a:defRPr sz="2400" b="1">
                <a:solidFill>
                  <a:srgbClr val="4ADE80"/>
                </a:solidFill>
              </a:defRPr>
            </a:pPr>
            <a:r>
              <a:rPr dirty="0">
                <a:latin typeface="Amasis MT Pro" panose="02040504050005020304" pitchFamily="18" charset="0"/>
              </a:rPr>
              <a:t>99% TARGET ACCURACY  | EDGE OFFLINE EXECUTION &lt; 1s INFERENCE TIME</a:t>
            </a:r>
          </a:p>
        </p:txBody>
      </p:sp>
      <p:sp>
        <p:nvSpPr>
          <p:cNvPr id="6" name="TextBox 5"/>
          <p:cNvSpPr txBox="1"/>
          <p:nvPr/>
        </p:nvSpPr>
        <p:spPr>
          <a:xfrm>
            <a:off x="1690895" y="3531811"/>
            <a:ext cx="8534095" cy="2677656"/>
          </a:xfrm>
          <a:prstGeom prst="rect">
            <a:avLst/>
          </a:prstGeom>
          <a:noFill/>
        </p:spPr>
        <p:txBody>
          <a:bodyPr wrap="square">
            <a:spAutoFit/>
          </a:bodyPr>
          <a:lstStyle/>
          <a:p>
            <a:pPr algn="ctr">
              <a:defRPr sz="2300" b="1">
                <a:solidFill>
                  <a:srgbClr val="F0F0F0"/>
                </a:solidFill>
              </a:defRPr>
            </a:pPr>
            <a:r>
              <a:rPr sz="2800" dirty="0">
                <a:latin typeface="Amasis MT Pro" panose="02040504050005020304" pitchFamily="18" charset="0"/>
              </a:rPr>
              <a:t>Built specifically for remote LATAM/African rural regions without internet. We utilize heavily quantized Convolutional Neural Networks on mobile devices to detect microscopic symptomatic patterns on banana leaves, halting TR4 outbreaks instantly.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726241" y="457200"/>
            <a:ext cx="2739212" cy="584775"/>
          </a:xfrm>
          <a:prstGeom prst="rect">
            <a:avLst/>
          </a:prstGeom>
          <a:noFill/>
        </p:spPr>
        <p:txBody>
          <a:bodyPr wrap="none">
            <a:spAutoFit/>
          </a:bodyPr>
          <a:lstStyle/>
          <a:p>
            <a:pPr algn="ctr">
              <a:defRPr sz="1800" b="1">
                <a:solidFill>
                  <a:srgbClr val="FACC15"/>
                </a:solidFill>
              </a:defRPr>
            </a:pPr>
            <a:r>
              <a:rPr sz="3200" dirty="0">
                <a:latin typeface="Amasis MT Pro Black" panose="02040A04050005020304" pitchFamily="18" charset="0"/>
              </a:rPr>
              <a:t>Global Scale</a:t>
            </a:r>
          </a:p>
        </p:txBody>
      </p:sp>
      <p:sp>
        <p:nvSpPr>
          <p:cNvPr id="4" name="TextBox 3"/>
          <p:cNvSpPr txBox="1"/>
          <p:nvPr/>
        </p:nvSpPr>
        <p:spPr>
          <a:xfrm>
            <a:off x="1047314" y="1499175"/>
            <a:ext cx="9850582" cy="1015663"/>
          </a:xfrm>
          <a:prstGeom prst="rect">
            <a:avLst/>
          </a:prstGeom>
          <a:noFill/>
        </p:spPr>
        <p:txBody>
          <a:bodyPr wrap="none">
            <a:spAutoFit/>
          </a:bodyPr>
          <a:lstStyle/>
          <a:p>
            <a:pPr algn="ctr">
              <a:defRPr sz="5500" b="1">
                <a:solidFill>
                  <a:srgbClr val="FFFFFF"/>
                </a:solidFill>
              </a:defRPr>
            </a:pPr>
            <a:r>
              <a:rPr sz="6000" dirty="0">
                <a:latin typeface="Amasis MT Pro Black" panose="02040A04050005020304" pitchFamily="18" charset="0"/>
              </a:rPr>
              <a:t>The Market Opportunity</a:t>
            </a:r>
          </a:p>
        </p:txBody>
      </p:sp>
      <p:sp>
        <p:nvSpPr>
          <p:cNvPr id="5" name="TextBox 4"/>
          <p:cNvSpPr txBox="1"/>
          <p:nvPr/>
        </p:nvSpPr>
        <p:spPr>
          <a:xfrm>
            <a:off x="646958" y="3172782"/>
            <a:ext cx="4092192" cy="1769715"/>
          </a:xfrm>
          <a:prstGeom prst="rect">
            <a:avLst/>
          </a:prstGeom>
          <a:noFill/>
        </p:spPr>
        <p:txBody>
          <a:bodyPr wrap="square">
            <a:spAutoFit/>
          </a:bodyPr>
          <a:lstStyle/>
          <a:p>
            <a:pPr algn="ctr">
              <a:defRPr sz="5500" b="1">
                <a:solidFill>
                  <a:srgbClr val="FFFFFF"/>
                </a:solidFill>
              </a:defRPr>
            </a:pPr>
            <a:r>
              <a:rPr dirty="0">
                <a:solidFill>
                  <a:schemeClr val="accent6">
                    <a:lumMod val="75000"/>
                  </a:schemeClr>
                </a:solidFill>
                <a:latin typeface="Amasis MT Pro Black" panose="02040A04050005020304" pitchFamily="18" charset="0"/>
              </a:rPr>
              <a:t>$180B+</a:t>
            </a:r>
          </a:p>
          <a:p>
            <a:pPr algn="ctr">
              <a:defRPr sz="1800" b="1">
                <a:solidFill>
                  <a:srgbClr val="DCDCDC"/>
                </a:solidFill>
              </a:defRPr>
            </a:pPr>
            <a:r>
              <a:rPr dirty="0">
                <a:latin typeface="Amasis MT Pro Black" panose="02040A04050005020304" pitchFamily="18" charset="0"/>
              </a:rPr>
              <a:t>TAM</a:t>
            </a:r>
            <a:br>
              <a:rPr dirty="0">
                <a:latin typeface="Amasis MT Pro Black" panose="02040A04050005020304" pitchFamily="18" charset="0"/>
              </a:rPr>
            </a:br>
            <a:r>
              <a:rPr dirty="0">
                <a:latin typeface="Amasis MT Pro Black" panose="02040A04050005020304" pitchFamily="18" charset="0"/>
              </a:rPr>
              <a:t>Combined AI Health &amp; </a:t>
            </a:r>
            <a:r>
              <a:rPr dirty="0" err="1">
                <a:latin typeface="Amasis MT Pro Black" panose="02040A04050005020304" pitchFamily="18" charset="0"/>
              </a:rPr>
              <a:t>Agro</a:t>
            </a:r>
            <a:r>
              <a:rPr dirty="0">
                <a:latin typeface="Amasis MT Pro Black" panose="02040A04050005020304" pitchFamily="18" charset="0"/>
              </a:rPr>
              <a:t> Market</a:t>
            </a:r>
          </a:p>
        </p:txBody>
      </p:sp>
      <p:sp>
        <p:nvSpPr>
          <p:cNvPr id="6" name="TextBox 5"/>
          <p:cNvSpPr txBox="1"/>
          <p:nvPr/>
        </p:nvSpPr>
        <p:spPr>
          <a:xfrm>
            <a:off x="3773509" y="4942497"/>
            <a:ext cx="4398192" cy="1492716"/>
          </a:xfrm>
          <a:prstGeom prst="rect">
            <a:avLst/>
          </a:prstGeom>
          <a:noFill/>
        </p:spPr>
        <p:txBody>
          <a:bodyPr wrap="none">
            <a:spAutoFit/>
          </a:bodyPr>
          <a:lstStyle/>
          <a:p>
            <a:pPr algn="ctr">
              <a:defRPr sz="5500" b="1">
                <a:solidFill>
                  <a:srgbClr val="CA8A04"/>
                </a:solidFill>
              </a:defRPr>
            </a:pPr>
            <a:r>
              <a:rPr dirty="0">
                <a:latin typeface="Amasis MT Pro Black" panose="02040A04050005020304" pitchFamily="18" charset="0"/>
              </a:rPr>
              <a:t>$15B</a:t>
            </a:r>
          </a:p>
          <a:p>
            <a:pPr algn="ctr">
              <a:defRPr sz="1800" b="1">
                <a:solidFill>
                  <a:srgbClr val="DCDCDC"/>
                </a:solidFill>
              </a:defRPr>
            </a:pPr>
            <a:r>
              <a:rPr dirty="0">
                <a:latin typeface="Amasis MT Pro Black" panose="02040A04050005020304" pitchFamily="18" charset="0"/>
              </a:rPr>
              <a:t>SAM</a:t>
            </a:r>
            <a:br>
              <a:rPr dirty="0">
                <a:latin typeface="Amasis MT Pro Black" panose="02040A04050005020304" pitchFamily="18" charset="0"/>
              </a:rPr>
            </a:br>
            <a:r>
              <a:rPr dirty="0">
                <a:latin typeface="Amasis MT Pro Black" panose="02040A04050005020304" pitchFamily="18" charset="0"/>
              </a:rPr>
              <a:t>LATAM &amp; Developing Nations Needs</a:t>
            </a:r>
          </a:p>
        </p:txBody>
      </p:sp>
      <p:sp>
        <p:nvSpPr>
          <p:cNvPr id="7" name="TextBox 6"/>
          <p:cNvSpPr txBox="1"/>
          <p:nvPr/>
        </p:nvSpPr>
        <p:spPr>
          <a:xfrm>
            <a:off x="5788656" y="3200400"/>
            <a:ext cx="5058564" cy="1492716"/>
          </a:xfrm>
          <a:prstGeom prst="rect">
            <a:avLst/>
          </a:prstGeom>
          <a:noFill/>
        </p:spPr>
        <p:txBody>
          <a:bodyPr wrap="none">
            <a:spAutoFit/>
          </a:bodyPr>
          <a:lstStyle/>
          <a:p>
            <a:pPr algn="ctr">
              <a:defRPr sz="5500" b="1">
                <a:solidFill>
                  <a:srgbClr val="FACC15"/>
                </a:solidFill>
              </a:defRPr>
            </a:pPr>
            <a:r>
              <a:rPr dirty="0">
                <a:latin typeface="Amasis MT Pro Black" panose="02040A04050005020304" pitchFamily="18" charset="0"/>
              </a:rPr>
              <a:t>$150M</a:t>
            </a:r>
          </a:p>
          <a:p>
            <a:pPr algn="ctr">
              <a:defRPr sz="1800" b="1">
                <a:solidFill>
                  <a:srgbClr val="DCDCDC"/>
                </a:solidFill>
              </a:defRPr>
            </a:pPr>
            <a:r>
              <a:rPr dirty="0">
                <a:latin typeface="Amasis MT Pro Black" panose="02040A04050005020304" pitchFamily="18" charset="0"/>
              </a:rPr>
              <a:t>SOM (Year 3)</a:t>
            </a:r>
            <a:br>
              <a:rPr dirty="0">
                <a:latin typeface="Amasis MT Pro Black" panose="02040A04050005020304" pitchFamily="18" charset="0"/>
              </a:rPr>
            </a:br>
            <a:r>
              <a:rPr dirty="0">
                <a:latin typeface="Amasis MT Pro Black" panose="02040A04050005020304" pitchFamily="18" charset="0"/>
              </a:rPr>
              <a:t>Penetration in Key Farming &amp; Clinic Hubs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4806124" cy="584775"/>
          </a:xfrm>
          <a:prstGeom prst="rect">
            <a:avLst/>
          </a:prstGeom>
          <a:noFill/>
        </p:spPr>
        <p:txBody>
          <a:bodyPr wrap="none">
            <a:spAutoFit/>
          </a:bodyPr>
          <a:lstStyle/>
          <a:p>
            <a:pPr algn="l">
              <a:defRPr sz="1800" b="1">
                <a:solidFill>
                  <a:srgbClr val="4ADE80"/>
                </a:solidFill>
              </a:defRPr>
            </a:pPr>
            <a:r>
              <a:rPr sz="3200" dirty="0">
                <a:latin typeface="Amasis MT Pro" panose="02040504050005020304" pitchFamily="18" charset="0"/>
              </a:rPr>
              <a:t>Financial Sustainability</a:t>
            </a:r>
          </a:p>
        </p:txBody>
      </p:sp>
      <p:sp>
        <p:nvSpPr>
          <p:cNvPr id="4" name="TextBox 3"/>
          <p:cNvSpPr txBox="1"/>
          <p:nvPr/>
        </p:nvSpPr>
        <p:spPr>
          <a:xfrm>
            <a:off x="914400" y="1271572"/>
            <a:ext cx="7848623" cy="784830"/>
          </a:xfrm>
          <a:prstGeom prst="rect">
            <a:avLst/>
          </a:prstGeom>
          <a:noFill/>
        </p:spPr>
        <p:txBody>
          <a:bodyPr wrap="none">
            <a:spAutoFit/>
          </a:bodyPr>
          <a:lstStyle/>
          <a:p>
            <a:pPr algn="l">
              <a:defRPr sz="4500" b="1">
                <a:solidFill>
                  <a:srgbClr val="FFFFFF"/>
                </a:solidFill>
              </a:defRPr>
            </a:pPr>
            <a:r>
              <a:rPr dirty="0">
                <a:solidFill>
                  <a:schemeClr val="bg2">
                    <a:lumMod val="90000"/>
                  </a:schemeClr>
                </a:solidFill>
                <a:latin typeface="Amasis MT Pro" panose="02040504050005020304" pitchFamily="18" charset="0"/>
              </a:rPr>
              <a:t>B2B &amp; B2G Revenue Models</a:t>
            </a:r>
          </a:p>
        </p:txBody>
      </p:sp>
      <p:sp>
        <p:nvSpPr>
          <p:cNvPr id="5" name="TextBox 4"/>
          <p:cNvSpPr txBox="1"/>
          <p:nvPr/>
        </p:nvSpPr>
        <p:spPr>
          <a:xfrm>
            <a:off x="914400" y="2286000"/>
            <a:ext cx="4754880" cy="2769989"/>
          </a:xfrm>
          <a:prstGeom prst="rect">
            <a:avLst/>
          </a:prstGeom>
          <a:noFill/>
        </p:spPr>
        <p:txBody>
          <a:bodyPr wrap="square">
            <a:spAutoFit/>
          </a:bodyPr>
          <a:lstStyle/>
          <a:p>
            <a:pPr>
              <a:defRPr sz="2800" b="1">
                <a:solidFill>
                  <a:srgbClr val="FFFFFF"/>
                </a:solidFill>
              </a:defRPr>
            </a:pPr>
            <a:r>
              <a:rPr dirty="0">
                <a:solidFill>
                  <a:schemeClr val="bg2">
                    <a:lumMod val="50000"/>
                  </a:schemeClr>
                </a:solidFill>
                <a:latin typeface="Amasis MT Pro" panose="02040504050005020304" pitchFamily="18" charset="0"/>
              </a:rPr>
              <a:t>🏥 Healthcare SaaS</a:t>
            </a:r>
            <a:br>
              <a:rPr dirty="0">
                <a:solidFill>
                  <a:schemeClr val="bg2">
                    <a:lumMod val="50000"/>
                  </a:schemeClr>
                </a:solidFill>
                <a:latin typeface="Amasis MT Pro" panose="02040504050005020304" pitchFamily="18" charset="0"/>
              </a:rPr>
            </a:br>
            <a:r>
              <a:rPr dirty="0">
                <a:solidFill>
                  <a:schemeClr val="bg2">
                    <a:lumMod val="50000"/>
                  </a:schemeClr>
                </a:solidFill>
                <a:latin typeface="Amasis MT Pro" panose="02040504050005020304" pitchFamily="18" charset="0"/>
              </a:rPr>
              <a:t>B2B Licensing / Pay-per-Inference</a:t>
            </a:r>
          </a:p>
          <a:p>
            <a:br>
              <a:rPr dirty="0">
                <a:solidFill>
                  <a:schemeClr val="bg1"/>
                </a:solidFill>
                <a:latin typeface="Amasis MT Pro" panose="02040504050005020304" pitchFamily="18" charset="0"/>
              </a:rPr>
            </a:br>
            <a:r>
              <a:rPr dirty="0">
                <a:solidFill>
                  <a:schemeClr val="bg1"/>
                </a:solidFill>
                <a:latin typeface="Amasis MT Pro" panose="02040504050005020304" pitchFamily="18" charset="0"/>
              </a:rPr>
              <a:t>Clinics pay a monthly license or API-call fee to access our ADNI-Standard orchestrator, circumventing the need for million-dollar proprietary software setups locally.</a:t>
            </a:r>
          </a:p>
        </p:txBody>
      </p:sp>
      <p:sp>
        <p:nvSpPr>
          <p:cNvPr id="6" name="TextBox 5"/>
          <p:cNvSpPr txBox="1"/>
          <p:nvPr/>
        </p:nvSpPr>
        <p:spPr>
          <a:xfrm>
            <a:off x="6400800" y="2286000"/>
            <a:ext cx="4754880" cy="2769989"/>
          </a:xfrm>
          <a:prstGeom prst="rect">
            <a:avLst/>
          </a:prstGeom>
          <a:noFill/>
        </p:spPr>
        <p:txBody>
          <a:bodyPr wrap="square">
            <a:spAutoFit/>
          </a:bodyPr>
          <a:lstStyle/>
          <a:p>
            <a:pPr>
              <a:defRPr sz="2800" b="1">
                <a:solidFill>
                  <a:srgbClr val="FFFFFF"/>
                </a:solidFill>
              </a:defRPr>
            </a:pPr>
            <a:r>
              <a:rPr dirty="0">
                <a:solidFill>
                  <a:schemeClr val="bg2">
                    <a:lumMod val="50000"/>
                  </a:schemeClr>
                </a:solidFill>
                <a:latin typeface="Amasis MT Pro" panose="02040504050005020304" pitchFamily="18" charset="0"/>
              </a:rPr>
              <a:t>🌾 Agriculture Tech</a:t>
            </a:r>
            <a:br>
              <a:rPr dirty="0">
                <a:solidFill>
                  <a:schemeClr val="bg2">
                    <a:lumMod val="50000"/>
                  </a:schemeClr>
                </a:solidFill>
                <a:latin typeface="Amasis MT Pro" panose="02040504050005020304" pitchFamily="18" charset="0"/>
              </a:rPr>
            </a:br>
            <a:r>
              <a:rPr dirty="0">
                <a:solidFill>
                  <a:schemeClr val="bg2">
                    <a:lumMod val="50000"/>
                  </a:schemeClr>
                </a:solidFill>
                <a:latin typeface="Amasis MT Pro" panose="02040504050005020304" pitchFamily="18" charset="0"/>
              </a:rPr>
              <a:t>B2G &amp; Conglomerate Contracts</a:t>
            </a:r>
          </a:p>
          <a:p>
            <a:br>
              <a:rPr dirty="0">
                <a:solidFill>
                  <a:schemeClr val="bg1"/>
                </a:solidFill>
                <a:latin typeface="Amasis MT Pro" panose="02040504050005020304" pitchFamily="18" charset="0"/>
              </a:rPr>
            </a:br>
            <a:r>
              <a:rPr dirty="0">
                <a:solidFill>
                  <a:schemeClr val="bg1"/>
                </a:solidFill>
                <a:latin typeface="Amasis MT Pro" panose="02040504050005020304" pitchFamily="18" charset="0"/>
              </a:rPr>
              <a:t>Targeting Ministries of Agriculture and Multinational Exporters (like Dole/Chiquita). High-value preventative defense contracts to protect national GDP.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ana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67432" y="268412"/>
            <a:ext cx="4548767" cy="584775"/>
          </a:xfrm>
          <a:prstGeom prst="rect">
            <a:avLst/>
          </a:prstGeom>
          <a:noFill/>
        </p:spPr>
        <p:txBody>
          <a:bodyPr wrap="square">
            <a:spAutoFit/>
          </a:bodyPr>
          <a:lstStyle/>
          <a:p>
            <a:pPr algn="ctr">
              <a:defRPr sz="1800" b="1">
                <a:solidFill>
                  <a:srgbClr val="A855F7"/>
                </a:solidFill>
              </a:defRPr>
            </a:pPr>
            <a:r>
              <a:rPr sz="3200" dirty="0">
                <a:latin typeface="Amasis MT Pro" panose="02040504050005020304" pitchFamily="18" charset="0"/>
              </a:rPr>
              <a:t>Execution Plan</a:t>
            </a:r>
          </a:p>
        </p:txBody>
      </p:sp>
      <p:sp>
        <p:nvSpPr>
          <p:cNvPr id="4" name="TextBox 3"/>
          <p:cNvSpPr txBox="1"/>
          <p:nvPr/>
        </p:nvSpPr>
        <p:spPr>
          <a:xfrm>
            <a:off x="1598462" y="914400"/>
            <a:ext cx="8994770" cy="938719"/>
          </a:xfrm>
          <a:prstGeom prst="rect">
            <a:avLst/>
          </a:prstGeom>
          <a:noFill/>
        </p:spPr>
        <p:txBody>
          <a:bodyPr wrap="square">
            <a:spAutoFit/>
          </a:bodyPr>
          <a:lstStyle/>
          <a:p>
            <a:pPr algn="ctr">
              <a:defRPr sz="5500" b="1">
                <a:solidFill>
                  <a:srgbClr val="FFFFFF"/>
                </a:solidFill>
              </a:defRPr>
            </a:pPr>
            <a:r>
              <a:rPr dirty="0">
                <a:latin typeface="Amasis MT Pro" panose="02040504050005020304" pitchFamily="18" charset="0"/>
              </a:rPr>
              <a:t>Global Roadmap (2026+)</a:t>
            </a:r>
          </a:p>
        </p:txBody>
      </p:sp>
      <p:sp>
        <p:nvSpPr>
          <p:cNvPr id="5" name="TextBox 4"/>
          <p:cNvSpPr txBox="1"/>
          <p:nvPr/>
        </p:nvSpPr>
        <p:spPr>
          <a:xfrm>
            <a:off x="457200" y="2560320"/>
            <a:ext cx="3474720" cy="3108543"/>
          </a:xfrm>
          <a:prstGeom prst="rect">
            <a:avLst/>
          </a:prstGeom>
          <a:noFill/>
        </p:spPr>
        <p:txBody>
          <a:bodyPr wrap="square">
            <a:spAutoFit/>
          </a:bodyPr>
          <a:lstStyle/>
          <a:p>
            <a:pPr>
              <a:defRPr sz="2800" b="1">
                <a:solidFill>
                  <a:srgbClr val="FFFFFF"/>
                </a:solidFill>
              </a:defRPr>
            </a:pPr>
            <a:r>
              <a:rPr dirty="0">
                <a:solidFill>
                  <a:schemeClr val="accent2">
                    <a:lumMod val="60000"/>
                    <a:lumOff val="40000"/>
                  </a:schemeClr>
                </a:solidFill>
                <a:latin typeface="Amasis MT Pro" panose="02040504050005020304" pitchFamily="18" charset="0"/>
              </a:rPr>
              <a:t>1. Validation</a:t>
            </a:r>
            <a:br>
              <a:rPr dirty="0">
                <a:solidFill>
                  <a:schemeClr val="accent2">
                    <a:lumMod val="60000"/>
                    <a:lumOff val="40000"/>
                  </a:schemeClr>
                </a:solidFill>
                <a:latin typeface="Amasis MT Pro" panose="02040504050005020304" pitchFamily="18" charset="0"/>
              </a:rPr>
            </a:br>
            <a:r>
              <a:rPr dirty="0">
                <a:solidFill>
                  <a:schemeClr val="accent2">
                    <a:lumMod val="60000"/>
                    <a:lumOff val="40000"/>
                  </a:schemeClr>
                </a:solidFill>
                <a:latin typeface="Amasis MT Pro" panose="02040504050005020304" pitchFamily="18" charset="0"/>
              </a:rPr>
              <a:t>Present - Late 2026</a:t>
            </a:r>
          </a:p>
          <a:p>
            <a:br>
              <a:rPr sz="2000" dirty="0">
                <a:latin typeface="Amasis MT Pro" panose="02040504050005020304" pitchFamily="18" charset="0"/>
              </a:rPr>
            </a:br>
            <a:r>
              <a:rPr sz="2000" dirty="0">
                <a:solidFill>
                  <a:schemeClr val="bg1"/>
                </a:solidFill>
                <a:latin typeface="Amasis MT Pro" panose="02040504050005020304" pitchFamily="18" charset="0"/>
              </a:rPr>
              <a:t>• Hult Prize Regional/Global Finals.</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Final training loop with USC LONI / ADNI datasets.</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a:t>
            </a:r>
            <a:r>
              <a:rPr sz="2000" dirty="0" err="1">
                <a:solidFill>
                  <a:schemeClr val="bg1"/>
                </a:solidFill>
                <a:latin typeface="Amasis MT Pro" panose="02040504050005020304" pitchFamily="18" charset="0"/>
              </a:rPr>
              <a:t>Agro</a:t>
            </a:r>
            <a:r>
              <a:rPr sz="2000" dirty="0">
                <a:solidFill>
                  <a:schemeClr val="bg1"/>
                </a:solidFill>
                <a:latin typeface="Amasis MT Pro" panose="02040504050005020304" pitchFamily="18" charset="0"/>
              </a:rPr>
              <a:t>-Edge deployed in pilot farms.</a:t>
            </a:r>
          </a:p>
        </p:txBody>
      </p:sp>
      <p:sp>
        <p:nvSpPr>
          <p:cNvPr id="6" name="TextBox 5"/>
          <p:cNvSpPr txBox="1"/>
          <p:nvPr/>
        </p:nvSpPr>
        <p:spPr>
          <a:xfrm>
            <a:off x="4297680" y="2560320"/>
            <a:ext cx="3474720" cy="3108543"/>
          </a:xfrm>
          <a:prstGeom prst="rect">
            <a:avLst/>
          </a:prstGeom>
          <a:noFill/>
        </p:spPr>
        <p:txBody>
          <a:bodyPr wrap="square">
            <a:spAutoFit/>
          </a:bodyPr>
          <a:lstStyle/>
          <a:p>
            <a:pPr>
              <a:defRPr sz="2800" b="1">
                <a:solidFill>
                  <a:srgbClr val="A855F7"/>
                </a:solidFill>
              </a:defRPr>
            </a:pPr>
            <a:r>
              <a:rPr dirty="0">
                <a:latin typeface="Amasis MT Pro" panose="02040504050005020304" pitchFamily="18" charset="0"/>
              </a:rPr>
              <a:t>2. Pilot Entry</a:t>
            </a:r>
            <a:br>
              <a:rPr dirty="0">
                <a:latin typeface="Amasis MT Pro" panose="02040504050005020304" pitchFamily="18" charset="0"/>
              </a:rPr>
            </a:br>
            <a:r>
              <a:rPr dirty="0">
                <a:latin typeface="Amasis MT Pro" panose="02040504050005020304" pitchFamily="18" charset="0"/>
              </a:rPr>
              <a:t>2027</a:t>
            </a:r>
          </a:p>
          <a:p>
            <a:br>
              <a:rPr sz="2000" dirty="0">
                <a:latin typeface="Amasis MT Pro" panose="02040504050005020304" pitchFamily="18" charset="0"/>
              </a:rPr>
            </a:br>
            <a:r>
              <a:rPr sz="2000" dirty="0">
                <a:solidFill>
                  <a:schemeClr val="bg1"/>
                </a:solidFill>
                <a:latin typeface="Amasis MT Pro" panose="02040504050005020304" pitchFamily="18" charset="0"/>
              </a:rPr>
              <a:t>• First B2B medical clinics integrated in </a:t>
            </a:r>
            <a:r>
              <a:rPr sz="2000" dirty="0" err="1">
                <a:solidFill>
                  <a:schemeClr val="bg1"/>
                </a:solidFill>
                <a:latin typeface="Amasis MT Pro" panose="02040504050005020304" pitchFamily="18" charset="0"/>
              </a:rPr>
              <a:t>LatAm</a:t>
            </a:r>
            <a:r>
              <a:rPr sz="2000" dirty="0">
                <a:solidFill>
                  <a:schemeClr val="bg1"/>
                </a:solidFill>
                <a:latin typeface="Amasis MT Pro" panose="02040504050005020304" pitchFamily="18" charset="0"/>
              </a:rPr>
              <a:t> natively.</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Government lobbying for TR4 prevention.</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Seed Round funding ($1M+ Target).</a:t>
            </a:r>
          </a:p>
        </p:txBody>
      </p:sp>
      <p:sp>
        <p:nvSpPr>
          <p:cNvPr id="7" name="TextBox 6"/>
          <p:cNvSpPr txBox="1"/>
          <p:nvPr/>
        </p:nvSpPr>
        <p:spPr>
          <a:xfrm>
            <a:off x="8046720" y="2560320"/>
            <a:ext cx="3474720" cy="3077766"/>
          </a:xfrm>
          <a:prstGeom prst="rect">
            <a:avLst/>
          </a:prstGeom>
          <a:noFill/>
        </p:spPr>
        <p:txBody>
          <a:bodyPr wrap="square">
            <a:spAutoFit/>
          </a:bodyPr>
          <a:lstStyle/>
          <a:p>
            <a:pPr>
              <a:defRPr sz="2800" b="1">
                <a:solidFill>
                  <a:srgbClr val="38BDF8"/>
                </a:solidFill>
              </a:defRPr>
            </a:pPr>
            <a:r>
              <a:rPr dirty="0">
                <a:latin typeface="Amasis MT Pro" panose="02040504050005020304" pitchFamily="18" charset="0"/>
              </a:rPr>
              <a:t>3. Deep Scaling</a:t>
            </a:r>
            <a:br>
              <a:rPr dirty="0">
                <a:latin typeface="Amasis MT Pro" panose="02040504050005020304" pitchFamily="18" charset="0"/>
              </a:rPr>
            </a:br>
            <a:r>
              <a:rPr dirty="0">
                <a:latin typeface="Amasis MT Pro" panose="02040504050005020304" pitchFamily="18" charset="0"/>
              </a:rPr>
              <a:t>2028+</a:t>
            </a:r>
          </a:p>
          <a:p>
            <a:br>
              <a:rPr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Enterprise partnerships with cloud providers.</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Drone-automated inferencing for </a:t>
            </a:r>
            <a:r>
              <a:rPr sz="2000" dirty="0" err="1">
                <a:solidFill>
                  <a:schemeClr val="bg1"/>
                </a:solidFill>
                <a:latin typeface="Amasis MT Pro" panose="02040504050005020304" pitchFamily="18" charset="0"/>
              </a:rPr>
              <a:t>Agro</a:t>
            </a:r>
            <a:r>
              <a:rPr sz="2000" dirty="0">
                <a:solidFill>
                  <a:schemeClr val="bg1"/>
                </a:solidFill>
                <a:latin typeface="Amasis MT Pro" panose="02040504050005020304" pitchFamily="18" charset="0"/>
              </a:rPr>
              <a:t>.</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 Massive clinical expansions via APIs.</a:t>
            </a:r>
            <a:endParaRPr dirty="0">
              <a:solidFill>
                <a:schemeClr val="bg1"/>
              </a:solidFill>
              <a:latin typeface="Amasis MT Pro" panose="020405040500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ultra_visible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2234374" y="282366"/>
            <a:ext cx="7722947" cy="938719"/>
          </a:xfrm>
          <a:prstGeom prst="rect">
            <a:avLst/>
          </a:prstGeom>
          <a:noFill/>
        </p:spPr>
        <p:txBody>
          <a:bodyPr wrap="none">
            <a:spAutoFit/>
          </a:bodyPr>
          <a:lstStyle/>
          <a:p>
            <a:pPr algn="ctr">
              <a:defRPr sz="5500" b="1">
                <a:solidFill>
                  <a:srgbClr val="FFFFFF"/>
                </a:solidFill>
              </a:defRPr>
            </a:pPr>
            <a:r>
              <a:rPr dirty="0">
                <a:latin typeface="Amasis MT Pro" panose="02040504050005020304" pitchFamily="18" charset="0"/>
              </a:rPr>
              <a:t>The Engineering Team</a:t>
            </a:r>
          </a:p>
        </p:txBody>
      </p:sp>
      <p:sp>
        <p:nvSpPr>
          <p:cNvPr id="4" name="TextBox 3"/>
          <p:cNvSpPr txBox="1"/>
          <p:nvPr/>
        </p:nvSpPr>
        <p:spPr>
          <a:xfrm>
            <a:off x="4227720" y="1320148"/>
            <a:ext cx="3342967" cy="523220"/>
          </a:xfrm>
          <a:prstGeom prst="rect">
            <a:avLst/>
          </a:prstGeom>
          <a:noFill/>
        </p:spPr>
        <p:txBody>
          <a:bodyPr wrap="none">
            <a:spAutoFit/>
          </a:bodyPr>
          <a:lstStyle/>
          <a:p>
            <a:pPr algn="ctr">
              <a:defRPr sz="1800" b="1">
                <a:solidFill>
                  <a:srgbClr val="38BDF8"/>
                </a:solidFill>
              </a:defRPr>
            </a:pPr>
            <a:r>
              <a:rPr sz="2800" dirty="0">
                <a:latin typeface="Amasis MT Pro" panose="02040504050005020304" pitchFamily="18" charset="0"/>
              </a:rPr>
              <a:t>Perdix Origin Core</a:t>
            </a:r>
          </a:p>
        </p:txBody>
      </p:sp>
      <p:sp>
        <p:nvSpPr>
          <p:cNvPr id="5" name="TextBox 4"/>
          <p:cNvSpPr txBox="1"/>
          <p:nvPr/>
        </p:nvSpPr>
        <p:spPr>
          <a:xfrm>
            <a:off x="717755" y="1745334"/>
            <a:ext cx="10362895" cy="1908215"/>
          </a:xfrm>
          <a:prstGeom prst="rect">
            <a:avLst/>
          </a:prstGeom>
          <a:noFill/>
        </p:spPr>
        <p:txBody>
          <a:bodyPr wrap="square">
            <a:spAutoFit/>
          </a:bodyPr>
          <a:lstStyle/>
          <a:p>
            <a:pPr algn="ctr">
              <a:defRPr sz="2800" b="1">
                <a:solidFill>
                  <a:srgbClr val="FFFFFF"/>
                </a:solidFill>
              </a:defRPr>
            </a:pPr>
            <a:r>
              <a:rPr sz="3200" dirty="0">
                <a:latin typeface="Amasis MT Pro" panose="02040504050005020304" pitchFamily="18" charset="0"/>
              </a:rPr>
              <a:t>Erick</a:t>
            </a:r>
            <a:r>
              <a:rPr lang="en-US" sz="3200" dirty="0">
                <a:latin typeface="Amasis MT Pro" panose="02040504050005020304" pitchFamily="18" charset="0"/>
              </a:rPr>
              <a:t> Flores</a:t>
            </a:r>
            <a:r>
              <a:rPr sz="3200" dirty="0">
                <a:latin typeface="Amasis MT Pro" panose="02040504050005020304" pitchFamily="18" charset="0"/>
              </a:rPr>
              <a:t> Zambrano</a:t>
            </a:r>
            <a:br>
              <a:rPr sz="3200" dirty="0">
                <a:latin typeface="Amasis MT Pro" panose="02040504050005020304" pitchFamily="18" charset="0"/>
              </a:rPr>
            </a:br>
            <a:r>
              <a:rPr sz="3200" dirty="0">
                <a:latin typeface="Amasis MT Pro" panose="02040504050005020304" pitchFamily="18" charset="0"/>
              </a:rPr>
              <a:t>Head of AI Architecture</a:t>
            </a:r>
          </a:p>
          <a:p>
            <a:br>
              <a:rPr sz="1400" dirty="0">
                <a:latin typeface="Amasis MT Pro" panose="02040504050005020304" pitchFamily="18" charset="0"/>
              </a:rPr>
            </a:br>
            <a:r>
              <a:rPr sz="2000" dirty="0">
                <a:solidFill>
                  <a:schemeClr val="bg1"/>
                </a:solidFill>
                <a:latin typeface="Amasis MT Pro" panose="02040504050005020304" pitchFamily="18" charset="0"/>
              </a:rPr>
              <a:t>Perdix Team</a:t>
            </a:r>
            <a:br>
              <a:rPr sz="2000" dirty="0">
                <a:solidFill>
                  <a:schemeClr val="bg1"/>
                </a:solidFill>
                <a:latin typeface="Amasis MT Pro" panose="02040504050005020304" pitchFamily="18" charset="0"/>
              </a:rPr>
            </a:br>
            <a:r>
              <a:rPr sz="2000" dirty="0">
                <a:solidFill>
                  <a:schemeClr val="bg1"/>
                </a:solidFill>
                <a:latin typeface="Amasis MT Pro" panose="02040504050005020304" pitchFamily="18" charset="0"/>
              </a:rPr>
              <a:t>Medical &amp; </a:t>
            </a:r>
            <a:r>
              <a:rPr sz="2000" dirty="0" err="1">
                <a:solidFill>
                  <a:schemeClr val="bg1"/>
                </a:solidFill>
                <a:latin typeface="Amasis MT Pro" panose="02040504050005020304" pitchFamily="18" charset="0"/>
              </a:rPr>
              <a:t>Agrotech</a:t>
            </a:r>
            <a:r>
              <a:rPr sz="2000" dirty="0">
                <a:solidFill>
                  <a:schemeClr val="bg1"/>
                </a:solidFill>
                <a:latin typeface="Amasis MT Pro" panose="02040504050005020304" pitchFamily="18" charset="0"/>
              </a:rPr>
              <a:t> Deep Research</a:t>
            </a:r>
            <a:endParaRPr sz="1400" dirty="0">
              <a:solidFill>
                <a:schemeClr val="bg1"/>
              </a:solidFill>
              <a:latin typeface="Amasis MT Pro" panose="02040504050005020304" pitchFamily="18" charset="0"/>
            </a:endParaRPr>
          </a:p>
        </p:txBody>
      </p:sp>
      <p:sp>
        <p:nvSpPr>
          <p:cNvPr id="6" name="TextBox 5"/>
          <p:cNvSpPr txBox="1"/>
          <p:nvPr/>
        </p:nvSpPr>
        <p:spPr>
          <a:xfrm>
            <a:off x="1067258" y="3967371"/>
            <a:ext cx="9418411" cy="2062103"/>
          </a:xfrm>
          <a:prstGeom prst="rect">
            <a:avLst/>
          </a:prstGeom>
          <a:noFill/>
        </p:spPr>
        <p:txBody>
          <a:bodyPr wrap="none">
            <a:spAutoFit/>
          </a:bodyPr>
          <a:lstStyle/>
          <a:p>
            <a:pPr algn="ctr">
              <a:defRPr sz="3200" b="1">
                <a:solidFill>
                  <a:srgbClr val="38BDF8"/>
                </a:solidFill>
              </a:defRPr>
            </a:pPr>
            <a:r>
              <a:rPr dirty="0">
                <a:latin typeface="Amasis MT Pro" panose="02040504050005020304" pitchFamily="18" charset="0"/>
              </a:rPr>
              <a:t>LIVE PRODUCTION ENGINE:</a:t>
            </a:r>
            <a:br>
              <a:rPr dirty="0">
                <a:latin typeface="Amasis MT Pro" panose="02040504050005020304" pitchFamily="18" charset="0"/>
              </a:rPr>
            </a:br>
            <a:r>
              <a:rPr sz="2400" dirty="0">
                <a:solidFill>
                  <a:schemeClr val="bg2">
                    <a:lumMod val="90000"/>
                  </a:schemeClr>
                </a:solidFill>
                <a:latin typeface="Amasis MT Pro" panose="02040504050005020304" pitchFamily="18" charset="0"/>
                <a:hlinkClick r:id="rId3">
                  <a:extLst>
                    <a:ext uri="{A12FA001-AC4F-418D-AE19-62706E023703}">
                      <ahyp:hlinkClr xmlns:ahyp="http://schemas.microsoft.com/office/drawing/2018/hyperlinkcolor" val="tx"/>
                    </a:ext>
                  </a:extLst>
                </a:hlinkClick>
              </a:rPr>
              <a:t>https://ingenieria-platform.vercel.app/</a:t>
            </a:r>
            <a:endParaRPr lang="en-US" sz="2400" dirty="0">
              <a:solidFill>
                <a:schemeClr val="bg2">
                  <a:lumMod val="90000"/>
                </a:schemeClr>
              </a:solidFill>
              <a:latin typeface="Amasis MT Pro" panose="02040504050005020304" pitchFamily="18" charset="0"/>
            </a:endParaRPr>
          </a:p>
          <a:p>
            <a:pPr algn="ctr">
              <a:defRPr sz="3200" b="1">
                <a:solidFill>
                  <a:srgbClr val="38BDF8"/>
                </a:solidFill>
              </a:defRPr>
            </a:pPr>
            <a:r>
              <a:rPr lang="es-ES" sz="2400" b="1" dirty="0">
                <a:solidFill>
                  <a:schemeClr val="bg2">
                    <a:lumMod val="90000"/>
                  </a:schemeClr>
                </a:solidFill>
                <a:hlinkClick r:id="rId4">
                  <a:extLst>
                    <a:ext uri="{A12FA001-AC4F-418D-AE19-62706E023703}">
                      <ahyp:hlinkClr xmlns:ahyp="http://schemas.microsoft.com/office/drawing/2018/hyperlinkcolor" val="tx"/>
                    </a:ext>
                  </a:extLst>
                </a:hlinkClick>
              </a:rPr>
              <a:t>Detector de Enfermedades del Banano | Deep </a:t>
            </a:r>
            <a:r>
              <a:rPr lang="es-ES" sz="2400" b="1" dirty="0" err="1">
                <a:solidFill>
                  <a:schemeClr val="bg2">
                    <a:lumMod val="90000"/>
                  </a:schemeClr>
                </a:solidFill>
                <a:hlinkClick r:id="rId4">
                  <a:extLst>
                    <a:ext uri="{A12FA001-AC4F-418D-AE19-62706E023703}">
                      <ahyp:hlinkClr xmlns:ahyp="http://schemas.microsoft.com/office/drawing/2018/hyperlinkcolor" val="tx"/>
                    </a:ext>
                  </a:extLst>
                </a:hlinkClick>
              </a:rPr>
              <a:t>Learning</a:t>
            </a:r>
            <a:endParaRPr sz="2400" dirty="0">
              <a:solidFill>
                <a:schemeClr val="bg2">
                  <a:lumMod val="90000"/>
                </a:schemeClr>
              </a:solidFill>
              <a:latin typeface="Amasis MT Pro" panose="02040504050005020304" pitchFamily="18" charset="0"/>
            </a:endParaRPr>
          </a:p>
          <a:p>
            <a:pPr algn="ctr"/>
            <a:br>
              <a:rPr sz="2400" dirty="0">
                <a:solidFill>
                  <a:schemeClr val="bg1"/>
                </a:solidFill>
                <a:latin typeface="Amasis MT Pro" panose="02040504050005020304" pitchFamily="18" charset="0"/>
              </a:rPr>
            </a:br>
            <a:r>
              <a:rPr sz="2400" dirty="0">
                <a:solidFill>
                  <a:schemeClr val="bg1"/>
                </a:solidFill>
                <a:latin typeface="Amasis MT Pro" panose="02040504050005020304" pitchFamily="18" charset="0"/>
              </a:rPr>
              <a:t>Powered by: Google DeepMind | USC LONI (IDEAS / ADNI) | </a:t>
            </a:r>
            <a:r>
              <a:rPr sz="2400" dirty="0" err="1">
                <a:solidFill>
                  <a:schemeClr val="bg1"/>
                </a:solidFill>
                <a:latin typeface="Amasis MT Pro" panose="02040504050005020304" pitchFamily="18" charset="0"/>
              </a:rPr>
              <a:t>Vercel</a:t>
            </a:r>
            <a:endParaRPr sz="2400" dirty="0">
              <a:solidFill>
                <a:schemeClr val="bg1"/>
              </a:solidFill>
              <a:latin typeface="Amasis MT Pro" panose="020405040500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TotalTime>
  <Words>709</Words>
  <Application>Microsoft Office PowerPoint</Application>
  <PresentationFormat>Panorámica</PresentationFormat>
  <Paragraphs>68</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Amasis MT Pro</vt:lpstr>
      <vt:lpstr>Amasis MT Pro Black</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ERICK REINALDO FLORES ZAMBRANO</cp:lastModifiedBy>
  <cp:revision>3</cp:revision>
  <dcterms:created xsi:type="dcterms:W3CDTF">2013-01-27T09:14:16Z</dcterms:created>
  <dcterms:modified xsi:type="dcterms:W3CDTF">2026-02-25T18:06:29Z</dcterms:modified>
  <cp:category/>
</cp:coreProperties>
</file>